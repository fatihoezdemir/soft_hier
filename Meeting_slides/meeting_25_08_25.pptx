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25"/>
  </p:notesMasterIdLst>
  <p:handoutMasterIdLst>
    <p:handoutMasterId r:id="rId26"/>
  </p:handoutMasterIdLst>
  <p:sldIdLst>
    <p:sldId id="263" r:id="rId5"/>
    <p:sldId id="299" r:id="rId6"/>
    <p:sldId id="328" r:id="rId7"/>
    <p:sldId id="327" r:id="rId8"/>
    <p:sldId id="316" r:id="rId9"/>
    <p:sldId id="317" r:id="rId10"/>
    <p:sldId id="319" r:id="rId11"/>
    <p:sldId id="318" r:id="rId12"/>
    <p:sldId id="320" r:id="rId13"/>
    <p:sldId id="325" r:id="rId14"/>
    <p:sldId id="335" r:id="rId15"/>
    <p:sldId id="321" r:id="rId16"/>
    <p:sldId id="323" r:id="rId17"/>
    <p:sldId id="331" r:id="rId18"/>
    <p:sldId id="326" r:id="rId19"/>
    <p:sldId id="336" r:id="rId20"/>
    <p:sldId id="329" r:id="rId21"/>
    <p:sldId id="332" r:id="rId22"/>
    <p:sldId id="333" r:id="rId23"/>
    <p:sldId id="334" r:id="rId24"/>
  </p:sldIdLst>
  <p:sldSz cx="11520488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4241318-C2B3-2F8F-9650-8FA6E2C0006E}" name="Wang, Bowen" initials="BW" userId="S::wang4571@purdue.edu::59e8deaf-07df-4935-a333-b49bc404b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AF4B"/>
    <a:srgbClr val="1B1F23"/>
    <a:srgbClr val="168638"/>
    <a:srgbClr val="EFD5E8"/>
    <a:srgbClr val="30879C"/>
    <a:srgbClr val="318CA1"/>
    <a:srgbClr val="3494AB"/>
    <a:srgbClr val="E3F0E7"/>
    <a:srgbClr val="FFFFFF"/>
    <a:srgbClr val="B4B4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39" autoAdjust="0"/>
    <p:restoredTop sz="96807" autoAdjust="0"/>
  </p:normalViewPr>
  <p:slideViewPr>
    <p:cSldViewPr snapToGrid="0" snapToObjects="1">
      <p:cViewPr>
        <p:scale>
          <a:sx n="83" d="100"/>
          <a:sy n="83" d="100"/>
        </p:scale>
        <p:origin x="928" y="14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61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7AD5FE-7647-1959-A5F6-1C581314C6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5C3953-573F-4EB5-E520-7376F6A137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87029-FC2C-4640-9AE8-A7E4563DD7D6}" type="datetimeFigureOut">
              <a:rPr lang="de-CH" smtClean="0"/>
              <a:t>29.08.25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D76DC8-E594-18E1-0FB2-574F2AD5F3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42FCE3-CBFB-397C-8D47-701A8FB7D0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D1134-AC4A-4522-946B-11816DE4409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37995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4DC17-3E8D-F94C-91D3-5E624AEBA41F}" type="datetimeFigureOut">
              <a:rPr lang="en-US" smtClean="0"/>
              <a:t>8/29/25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ABEB-D898-3E42-AE61-56CF49C1D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86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sv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7.sv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7123112" y="2082799"/>
            <a:ext cx="4397376" cy="4397376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474" y="560848"/>
            <a:ext cx="1670462" cy="278410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60476" y="2944056"/>
            <a:ext cx="5760000" cy="360000"/>
          </a:xfrm>
        </p:spPr>
        <p:txBody>
          <a:bodyPr lIns="0" tIns="0" rIns="0" bIns="0" anchor="b"/>
          <a:lstStyle>
            <a:lvl1pPr marL="0" indent="0" algn="l">
              <a:buNone/>
              <a:defRPr sz="2400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0474" y="1752630"/>
            <a:ext cx="10080000" cy="1080000"/>
          </a:xfrm>
        </p:spPr>
        <p:txBody>
          <a:bodyPr anchor="t"/>
          <a:lstStyle>
            <a:lvl1pPr>
              <a:defRPr sz="3600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9401118" y="3293580"/>
            <a:ext cx="1528333" cy="152833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8951419" y="3642920"/>
            <a:ext cx="814296" cy="834811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6157" y="3067742"/>
            <a:ext cx="2313855" cy="198563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2350" y="5265126"/>
            <a:ext cx="295971" cy="25398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44045" y="6122365"/>
            <a:ext cx="255370" cy="17666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8755030" y="5248677"/>
            <a:ext cx="208809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0" i="0" u="none" noProof="0" dirty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</a:t>
            </a:r>
            <a:r>
              <a:rPr lang="en-US" sz="1300" b="0" i="0" u="none" noProof="0" dirty="0" err="1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platform.org</a:t>
            </a:r>
            <a:endParaRPr lang="en-US" sz="1300" b="0" i="0" u="none" noProof="0" dirty="0">
              <a:solidFill>
                <a:schemeClr val="bg2"/>
              </a:solidFill>
              <a:latin typeface="Calibri Light" panose="020F0302020204030204" pitchFamily="34" charset="0"/>
              <a:ea typeface="Roboto Condensed Light" panose="02000000000000000000" pitchFamily="2" charset="0"/>
              <a:cs typeface="Calibri Light" panose="020F03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9273006" y="5520227"/>
            <a:ext cx="15701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0" i="0" u="none" noProof="0" dirty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</a:t>
            </a:r>
            <a:r>
              <a:rPr lang="en-US" sz="1300" b="0" i="0" u="none" noProof="0" dirty="0" err="1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pulp_platform</a:t>
            </a:r>
            <a:endParaRPr lang="en-US" sz="1300" b="0" i="0" u="none" noProof="0" dirty="0">
              <a:solidFill>
                <a:schemeClr val="bg2"/>
              </a:solidFill>
              <a:latin typeface="Calibri Light" panose="020F0302020204030204" pitchFamily="34" charset="0"/>
              <a:ea typeface="Roboto Condensed Light" panose="02000000000000000000" pitchFamily="2" charset="0"/>
              <a:cs typeface="Calibri Light" panose="020F03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8282406" y="6053732"/>
            <a:ext cx="25607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0" i="0" u="none" noProof="0" dirty="0" err="1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</a:t>
            </a:r>
            <a:r>
              <a:rPr lang="en-US" sz="1300" b="0" i="0" u="none" noProof="0" dirty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/</a:t>
            </a:r>
            <a:r>
              <a:rPr lang="en-US" sz="1300" b="0" i="0" u="none" noProof="0" dirty="0" err="1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pulp_platform</a:t>
            </a:r>
            <a:endParaRPr lang="en-US" sz="1300" b="0" i="0" u="none" noProof="0" dirty="0">
              <a:solidFill>
                <a:schemeClr val="bg2"/>
              </a:solidFill>
              <a:latin typeface="Calibri Light" panose="020F0302020204030204" pitchFamily="34" charset="0"/>
              <a:ea typeface="Roboto Condensed Light" panose="02000000000000000000" pitchFamily="2" charset="0"/>
              <a:cs typeface="Calibri Light" panose="020F03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360475" y="5558647"/>
            <a:ext cx="5718107" cy="67921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72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800" b="0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800" b="0" i="0" noProof="0" dirty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476" y="3670855"/>
            <a:ext cx="5760000" cy="1619466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  <p:pic>
        <p:nvPicPr>
          <p:cNvPr id="12" name="Picture 11" descr="A logo on a black background&#10;&#10;Description automatically generated">
            <a:extLst>
              <a:ext uri="{FF2B5EF4-FFF2-40B4-BE49-F238E27FC236}">
                <a16:creationId xmlns:a16="http://schemas.microsoft.com/office/drawing/2014/main" id="{67B48A85-951C-6934-67B0-C70177019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7432" t="9486" r="7777" b="7244"/>
          <a:stretch/>
        </p:blipFill>
        <p:spPr>
          <a:xfrm>
            <a:off x="2157272" y="242311"/>
            <a:ext cx="1322773" cy="102981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2AB48B9-8C32-846F-516D-BB66869FBA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3662" t="14200" r="22637" b="12205"/>
          <a:stretch/>
        </p:blipFill>
        <p:spPr>
          <a:xfrm>
            <a:off x="10861001" y="5566195"/>
            <a:ext cx="218671" cy="21919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867DE6B-6AD0-3722-FF10-5C1FEA0276B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62738" y="5845909"/>
            <a:ext cx="215198" cy="2151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06BFA9-ED02-5DE2-9B98-A27E71DAED0F}"/>
              </a:ext>
            </a:extLst>
          </p:cNvPr>
          <p:cNvSpPr txBox="1"/>
          <p:nvPr userDrawn="1"/>
        </p:nvSpPr>
        <p:spPr>
          <a:xfrm>
            <a:off x="8873752" y="5788000"/>
            <a:ext cx="19693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0" i="0" u="none" noProof="0" dirty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company/pulp-platform</a:t>
            </a:r>
          </a:p>
        </p:txBody>
      </p:sp>
    </p:spTree>
    <p:extLst>
      <p:ext uri="{BB962C8B-B14F-4D97-AF65-F5344CB8AC3E}">
        <p14:creationId xmlns:p14="http://schemas.microsoft.com/office/powerpoint/2010/main" val="737776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8" y="936000"/>
            <a:ext cx="10080003" cy="5220000"/>
          </a:xfrm>
        </p:spPr>
        <p:txBody>
          <a:bodyPr lIns="0"/>
          <a:lstStyle>
            <a:lvl1pPr marL="288004" indent="-288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504000" indent="-216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20000" indent="-216004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936000" indent="-216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152000" indent="-216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5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8" y="936000"/>
            <a:ext cx="5040000" cy="5220000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9071" y="936000"/>
            <a:ext cx="5040000" cy="5220000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4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99071" y="936000"/>
            <a:ext cx="6480000" cy="522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71" y="936000"/>
            <a:ext cx="3600000" cy="522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23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71" y="936000"/>
            <a:ext cx="6480000" cy="522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79071" y="936000"/>
            <a:ext cx="3600000" cy="522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2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71" y="936000"/>
            <a:ext cx="10080000" cy="2520000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9071" y="3458850"/>
            <a:ext cx="504000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9071" y="3458850"/>
            <a:ext cx="5040000" cy="27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3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08099" y="936000"/>
            <a:ext cx="3240000" cy="5040000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472"/>
              </a:spcBef>
              <a:defRPr sz="1890"/>
            </a:lvl1pPr>
            <a:lvl2pPr>
              <a:lnSpc>
                <a:spcPct val="100000"/>
              </a:lnSpc>
              <a:spcBef>
                <a:spcPts val="378"/>
              </a:spcBef>
              <a:defRPr sz="1701"/>
            </a:lvl2pPr>
            <a:lvl3pPr>
              <a:lnSpc>
                <a:spcPct val="100000"/>
              </a:lnSpc>
              <a:spcBef>
                <a:spcPts val="378"/>
              </a:spcBef>
              <a:defRPr sz="1512"/>
            </a:lvl3pPr>
            <a:lvl4pPr marL="1018520" indent="-168003">
              <a:lnSpc>
                <a:spcPct val="100000"/>
              </a:lnSpc>
              <a:spcBef>
                <a:spcPts val="378"/>
              </a:spcBef>
              <a:defRPr sz="1323"/>
            </a:lvl4pPr>
            <a:lvl5pPr>
              <a:defRPr sz="1323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728103" y="936000"/>
            <a:ext cx="3240000" cy="5040000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472"/>
              </a:spcBef>
              <a:defRPr sz="1890"/>
            </a:lvl1pPr>
            <a:lvl2pPr>
              <a:lnSpc>
                <a:spcPct val="100000"/>
              </a:lnSpc>
              <a:spcBef>
                <a:spcPts val="378"/>
              </a:spcBef>
              <a:defRPr sz="1701"/>
            </a:lvl2pPr>
            <a:lvl3pPr>
              <a:lnSpc>
                <a:spcPct val="100000"/>
              </a:lnSpc>
              <a:spcBef>
                <a:spcPts val="378"/>
              </a:spcBef>
              <a:defRPr sz="1512"/>
            </a:lvl3pPr>
            <a:lvl4pPr marL="1018520" indent="-168003">
              <a:lnSpc>
                <a:spcPct val="100000"/>
              </a:lnSpc>
              <a:spcBef>
                <a:spcPts val="378"/>
              </a:spcBef>
              <a:defRPr sz="1323"/>
            </a:lvl4pPr>
            <a:lvl5pPr>
              <a:defRPr sz="1323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148103" y="936000"/>
            <a:ext cx="3240000" cy="5040000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472"/>
              </a:spcBef>
              <a:defRPr sz="1890"/>
            </a:lvl1pPr>
            <a:lvl2pPr>
              <a:lnSpc>
                <a:spcPct val="100000"/>
              </a:lnSpc>
              <a:spcBef>
                <a:spcPts val="378"/>
              </a:spcBef>
              <a:defRPr sz="1701"/>
            </a:lvl2pPr>
            <a:lvl3pPr>
              <a:lnSpc>
                <a:spcPct val="100000"/>
              </a:lnSpc>
              <a:spcBef>
                <a:spcPts val="378"/>
              </a:spcBef>
              <a:defRPr sz="1512"/>
            </a:lvl3pPr>
            <a:lvl4pPr marL="1018520" indent="-168003">
              <a:lnSpc>
                <a:spcPct val="100000"/>
              </a:lnSpc>
              <a:spcBef>
                <a:spcPts val="378"/>
              </a:spcBef>
              <a:defRPr sz="1323"/>
            </a:lvl4pPr>
            <a:lvl5pPr>
              <a:defRPr sz="1323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7846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03336" y="936000"/>
            <a:ext cx="5040000" cy="2520000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472"/>
              </a:spcBef>
              <a:defRPr sz="1890"/>
            </a:lvl1pPr>
            <a:lvl2pPr>
              <a:lnSpc>
                <a:spcPct val="100000"/>
              </a:lnSpc>
              <a:spcBef>
                <a:spcPts val="378"/>
              </a:spcBef>
              <a:defRPr sz="1701"/>
            </a:lvl2pPr>
            <a:lvl3pPr>
              <a:lnSpc>
                <a:spcPct val="100000"/>
              </a:lnSpc>
              <a:spcBef>
                <a:spcPts val="378"/>
              </a:spcBef>
              <a:defRPr sz="1512"/>
            </a:lvl3pPr>
            <a:lvl4pPr marL="1018520" indent="-168003">
              <a:lnSpc>
                <a:spcPct val="100000"/>
              </a:lnSpc>
              <a:spcBef>
                <a:spcPts val="378"/>
              </a:spcBef>
              <a:defRPr sz="1323"/>
            </a:lvl4pPr>
            <a:lvl5pPr>
              <a:defRPr sz="1323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343340" y="936000"/>
            <a:ext cx="5040000" cy="2520000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472"/>
              </a:spcBef>
              <a:defRPr sz="1890"/>
            </a:lvl1pPr>
            <a:lvl2pPr>
              <a:lnSpc>
                <a:spcPct val="100000"/>
              </a:lnSpc>
              <a:spcBef>
                <a:spcPts val="378"/>
              </a:spcBef>
              <a:defRPr sz="1701"/>
            </a:lvl2pPr>
            <a:lvl3pPr>
              <a:lnSpc>
                <a:spcPct val="100000"/>
              </a:lnSpc>
              <a:spcBef>
                <a:spcPts val="378"/>
              </a:spcBef>
              <a:defRPr sz="1512"/>
            </a:lvl3pPr>
            <a:lvl4pPr marL="1018520" indent="-168003">
              <a:lnSpc>
                <a:spcPct val="100000"/>
              </a:lnSpc>
              <a:spcBef>
                <a:spcPts val="378"/>
              </a:spcBef>
              <a:defRPr sz="1323"/>
            </a:lvl4pPr>
            <a:lvl5pPr>
              <a:defRPr sz="1323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03336" y="3456000"/>
            <a:ext cx="5040000" cy="2520000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472"/>
              </a:spcBef>
              <a:defRPr sz="1890"/>
            </a:lvl1pPr>
            <a:lvl2pPr>
              <a:lnSpc>
                <a:spcPct val="100000"/>
              </a:lnSpc>
              <a:spcBef>
                <a:spcPts val="378"/>
              </a:spcBef>
              <a:defRPr sz="1701"/>
            </a:lvl2pPr>
            <a:lvl3pPr>
              <a:lnSpc>
                <a:spcPct val="100000"/>
              </a:lnSpc>
              <a:spcBef>
                <a:spcPts val="378"/>
              </a:spcBef>
              <a:defRPr sz="1512"/>
            </a:lvl3pPr>
            <a:lvl4pPr marL="1018520" indent="-168003">
              <a:lnSpc>
                <a:spcPct val="100000"/>
              </a:lnSpc>
              <a:spcBef>
                <a:spcPts val="378"/>
              </a:spcBef>
              <a:defRPr sz="1323"/>
            </a:lvl4pPr>
            <a:lvl5pPr>
              <a:defRPr sz="1323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343340" y="3456000"/>
            <a:ext cx="5040000" cy="2520000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472"/>
              </a:spcBef>
              <a:defRPr sz="1890"/>
            </a:lvl1pPr>
            <a:lvl2pPr>
              <a:lnSpc>
                <a:spcPct val="100000"/>
              </a:lnSpc>
              <a:spcBef>
                <a:spcPts val="378"/>
              </a:spcBef>
              <a:defRPr sz="1701"/>
            </a:lvl2pPr>
            <a:lvl3pPr>
              <a:lnSpc>
                <a:spcPct val="100000"/>
              </a:lnSpc>
              <a:spcBef>
                <a:spcPts val="378"/>
              </a:spcBef>
              <a:defRPr sz="1512"/>
            </a:lvl3pPr>
            <a:lvl4pPr marL="1018520" indent="-168003">
              <a:lnSpc>
                <a:spcPct val="100000"/>
              </a:lnSpc>
              <a:spcBef>
                <a:spcPts val="378"/>
              </a:spcBef>
              <a:defRPr sz="1323"/>
            </a:lvl4pPr>
            <a:lvl5pPr>
              <a:defRPr sz="1323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3508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7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943583" y="494165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34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8" y="936000"/>
            <a:ext cx="10080003" cy="5220000"/>
          </a:xfrm>
        </p:spPr>
        <p:txBody>
          <a:bodyPr lIns="0"/>
          <a:lstStyle>
            <a:lvl1pPr marL="288004" indent="-288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504000" indent="-216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720000" indent="-216004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936000" indent="-216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152000" indent="-216004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681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983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8471" y="358050"/>
            <a:ext cx="10080003" cy="59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92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5760244" y="0"/>
            <a:ext cx="5760244" cy="648017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8" y="936000"/>
            <a:ext cx="5040000" cy="5220000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10460009" y="140930"/>
            <a:ext cx="927344" cy="795801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760244" y="936000"/>
            <a:ext cx="5765986" cy="5220000"/>
          </a:xfrm>
        </p:spPr>
        <p:txBody>
          <a:bodyPr lIns="468000" tIns="252000"/>
          <a:lstStyle>
            <a:lvl1pPr marL="0" indent="0">
              <a:lnSpc>
                <a:spcPts val="1000"/>
              </a:lnSpc>
              <a:buNone/>
              <a:defRPr sz="1800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110789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5760244" y="0"/>
            <a:ext cx="5760244" cy="648017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8" y="936000"/>
            <a:ext cx="5040000" cy="5220000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10460009" y="140930"/>
            <a:ext cx="927344" cy="795801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760244" y="936000"/>
            <a:ext cx="5765986" cy="5220000"/>
          </a:xfrm>
        </p:spPr>
        <p:txBody>
          <a:bodyPr lIns="468000" tIns="252000"/>
          <a:lstStyle>
            <a:lvl1pPr marL="0" indent="0">
              <a:lnSpc>
                <a:spcPts val="1000"/>
              </a:lnSpc>
              <a:buNone/>
              <a:defRPr sz="1800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4094957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909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8206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5760244" y="0"/>
            <a:ext cx="5760244" cy="648017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9068" y="196012"/>
            <a:ext cx="5040000" cy="5705167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10460009" y="140930"/>
            <a:ext cx="927344" cy="795801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E33EDD7-5444-BAFF-DEE3-CADA90FFAD1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42453" y="936000"/>
            <a:ext cx="4336617" cy="2659816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GB" noProof="0" dirty="0"/>
              <a:t>Insert here a nice image summarizing your talk</a:t>
            </a:r>
            <a:endParaRPr lang="en-US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10581A-F37E-6976-E4EB-71BB3408B9E2}"/>
              </a:ext>
            </a:extLst>
          </p:cNvPr>
          <p:cNvGrpSpPr/>
          <p:nvPr userDrawn="1"/>
        </p:nvGrpSpPr>
        <p:grpSpPr>
          <a:xfrm>
            <a:off x="6381557" y="3290109"/>
            <a:ext cx="2225614" cy="2164247"/>
            <a:chOff x="6492044" y="1486792"/>
            <a:chExt cx="3244192" cy="3244192"/>
          </a:xfrm>
        </p:grpSpPr>
        <p:sp>
          <p:nvSpPr>
            <p:cNvPr id="6" name="Google Shape;1096;p28">
              <a:extLst>
                <a:ext uri="{FF2B5EF4-FFF2-40B4-BE49-F238E27FC236}">
                  <a16:creationId xmlns:a16="http://schemas.microsoft.com/office/drawing/2014/main" id="{F60C0024-DA79-82D0-74FB-8D05435A5349}"/>
                </a:ext>
              </a:extLst>
            </p:cNvPr>
            <p:cNvSpPr/>
            <p:nvPr userDrawn="1"/>
          </p:nvSpPr>
          <p:spPr>
            <a:xfrm>
              <a:off x="6492044" y="1486792"/>
              <a:ext cx="3244192" cy="3244192"/>
            </a:xfrm>
            <a:custGeom>
              <a:avLst/>
              <a:gdLst/>
              <a:ahLst/>
              <a:cxnLst/>
              <a:rect l="l" t="t" r="r" b="b"/>
              <a:pathLst>
                <a:path w="158750" h="158750" extrusionOk="0">
                  <a:moveTo>
                    <a:pt x="8255" y="0"/>
                  </a:moveTo>
                  <a:cubicBezTo>
                    <a:pt x="3810" y="0"/>
                    <a:pt x="0" y="3810"/>
                    <a:pt x="0" y="8255"/>
                  </a:cubicBezTo>
                  <a:lnTo>
                    <a:pt x="0" y="119380"/>
                  </a:lnTo>
                  <a:lnTo>
                    <a:pt x="31750" y="87630"/>
                  </a:lnTo>
                  <a:lnTo>
                    <a:pt x="111125" y="87630"/>
                  </a:lnTo>
                  <a:cubicBezTo>
                    <a:pt x="115570" y="87630"/>
                    <a:pt x="119380" y="83820"/>
                    <a:pt x="119380" y="79375"/>
                  </a:cubicBezTo>
                  <a:lnTo>
                    <a:pt x="119380" y="8255"/>
                  </a:lnTo>
                  <a:cubicBezTo>
                    <a:pt x="119380" y="3810"/>
                    <a:pt x="115570" y="0"/>
                    <a:pt x="111125" y="0"/>
                  </a:cubicBezTo>
                  <a:close/>
                  <a:moveTo>
                    <a:pt x="135255" y="31750"/>
                  </a:moveTo>
                  <a:lnTo>
                    <a:pt x="135255" y="103505"/>
                  </a:lnTo>
                  <a:lnTo>
                    <a:pt x="31750" y="103505"/>
                  </a:lnTo>
                  <a:lnTo>
                    <a:pt x="31750" y="119380"/>
                  </a:lnTo>
                  <a:cubicBezTo>
                    <a:pt x="31750" y="123190"/>
                    <a:pt x="35560" y="127000"/>
                    <a:pt x="40005" y="127000"/>
                  </a:cubicBezTo>
                  <a:lnTo>
                    <a:pt x="127000" y="127000"/>
                  </a:lnTo>
                  <a:lnTo>
                    <a:pt x="158750" y="158750"/>
                  </a:lnTo>
                  <a:lnTo>
                    <a:pt x="158750" y="40005"/>
                  </a:lnTo>
                  <a:cubicBezTo>
                    <a:pt x="158750" y="35560"/>
                    <a:pt x="154940" y="31750"/>
                    <a:pt x="151130" y="3175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79C53B-9759-C374-CBBB-7856A34E8FCD}"/>
                </a:ext>
              </a:extLst>
            </p:cNvPr>
            <p:cNvSpPr txBox="1"/>
            <p:nvPr userDrawn="1"/>
          </p:nvSpPr>
          <p:spPr>
            <a:xfrm>
              <a:off x="6742773" y="1937943"/>
              <a:ext cx="1950037" cy="869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i="0" u="none" dirty="0">
                  <a:solidFill>
                    <a:schemeClr val="accent3"/>
                  </a:solidFill>
                  <a:latin typeface="+mj-lt"/>
                  <a:ea typeface="Roboto Condensed" panose="02000000000000000000" pitchFamily="2" charset="0"/>
                  <a:cs typeface="Arial Narrow" panose="020B0604020202020204" pitchFamily="34" charset="0"/>
                </a:rPr>
                <a:t>Q&amp;A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85BCFFE-035D-2CC3-F32C-E2D80118FB7F}"/>
              </a:ext>
            </a:extLst>
          </p:cNvPr>
          <p:cNvGrpSpPr/>
          <p:nvPr userDrawn="1"/>
        </p:nvGrpSpPr>
        <p:grpSpPr>
          <a:xfrm>
            <a:off x="8551438" y="4241834"/>
            <a:ext cx="2835915" cy="1097443"/>
            <a:chOff x="8551367" y="5248677"/>
            <a:chExt cx="2835915" cy="1097443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97CE8B6-A7C6-EEC0-6376-6726C585F0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1091311" y="5265126"/>
              <a:ext cx="295971" cy="253989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5ACC8465-19E1-5456-0B3C-AE8FA7B44C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13006" y="6122365"/>
              <a:ext cx="255370" cy="176668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2A350E4-F1A6-CE57-4AD8-6B80E25A1C40}"/>
                </a:ext>
              </a:extLst>
            </p:cNvPr>
            <p:cNvSpPr txBox="1"/>
            <p:nvPr userDrawn="1"/>
          </p:nvSpPr>
          <p:spPr>
            <a:xfrm>
              <a:off x="9023991" y="5248677"/>
              <a:ext cx="208809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300" b="0" i="0" u="none" noProof="0" dirty="0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pulp-</a:t>
              </a:r>
              <a:r>
                <a:rPr lang="en-US" sz="1300" b="0" i="0" u="none" noProof="0" dirty="0" err="1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platform.org</a:t>
              </a:r>
              <a:endParaRPr lang="en-US" sz="1300" b="0" i="0" u="none" noProof="0" dirty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4E76D65-4B8B-67A9-0DC0-A3E7FDC0CE1E}"/>
                </a:ext>
              </a:extLst>
            </p:cNvPr>
            <p:cNvSpPr txBox="1"/>
            <p:nvPr userDrawn="1"/>
          </p:nvSpPr>
          <p:spPr>
            <a:xfrm>
              <a:off x="9541967" y="5520227"/>
              <a:ext cx="157011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300" b="0" i="0" u="none" noProof="0" dirty="0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@</a:t>
              </a:r>
              <a:r>
                <a:rPr lang="en-US" sz="1300" b="0" i="0" u="none" noProof="0" dirty="0" err="1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pulp_platform</a:t>
              </a:r>
              <a:endParaRPr lang="en-US" sz="1300" b="0" i="0" u="none" noProof="0" dirty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F6F796-E1B7-2D12-D666-B7A81841683D}"/>
                </a:ext>
              </a:extLst>
            </p:cNvPr>
            <p:cNvSpPr txBox="1"/>
            <p:nvPr userDrawn="1"/>
          </p:nvSpPr>
          <p:spPr>
            <a:xfrm>
              <a:off x="8551367" y="6053732"/>
              <a:ext cx="256071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300" b="0" i="0" u="none" noProof="0" dirty="0" err="1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youtube.com</a:t>
              </a:r>
              <a:r>
                <a:rPr lang="en-US" sz="1300" b="0" i="0" u="none" noProof="0" dirty="0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/</a:t>
              </a:r>
              <a:r>
                <a:rPr lang="en-US" sz="1300" b="0" i="0" u="none" noProof="0" dirty="0" err="1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pulp_platform</a:t>
              </a:r>
              <a:endParaRPr lang="en-US" sz="1300" b="0" i="0" u="none" noProof="0" dirty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endParaRP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2CCC6564-7E82-8399-962B-D9307743E7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23662" t="14200" r="22637" b="12205"/>
            <a:stretch/>
          </p:blipFill>
          <p:spPr>
            <a:xfrm>
              <a:off x="11129962" y="5566195"/>
              <a:ext cx="218671" cy="219191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04464516-BC88-12B2-E213-EF3CB56A7C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31699" y="5845909"/>
              <a:ext cx="215198" cy="21519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C448EBC-C2CA-7FFF-3AAA-99A7111176C0}"/>
                </a:ext>
              </a:extLst>
            </p:cNvPr>
            <p:cNvSpPr txBox="1"/>
            <p:nvPr userDrawn="1"/>
          </p:nvSpPr>
          <p:spPr>
            <a:xfrm>
              <a:off x="9142713" y="5788000"/>
              <a:ext cx="196937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300" b="0" i="0" u="none" noProof="0" dirty="0">
                  <a:solidFill>
                    <a:schemeClr val="bg2"/>
                  </a:solidFill>
                  <a:latin typeface="Calibri Light" panose="020F0302020204030204" pitchFamily="34" charset="0"/>
                  <a:ea typeface="Roboto Condensed Light" panose="02000000000000000000" pitchFamily="2" charset="0"/>
                  <a:cs typeface="Calibri Light" panose="020F0302020204030204" pitchFamily="34" charset="0"/>
                </a:rPr>
                <a:t>company/pulp-platform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79CE651-01F5-2F3A-2C4C-4DE8E8306F4C}"/>
              </a:ext>
            </a:extLst>
          </p:cNvPr>
          <p:cNvSpPr txBox="1"/>
          <p:nvPr userDrawn="1"/>
        </p:nvSpPr>
        <p:spPr>
          <a:xfrm>
            <a:off x="5874529" y="5731175"/>
            <a:ext cx="314946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CH" sz="1300" b="1" dirty="0">
                <a:solidFill>
                  <a:schemeClr val="bg2"/>
                </a:solidFill>
                <a:latin typeface="+mn-lt"/>
                <a:cs typeface="Calibri Light" panose="020F0302020204030204" pitchFamily="34" charset="0"/>
              </a:rPr>
              <a:t>Institut für Integrierte Systeme, ETH Zürich</a:t>
            </a:r>
          </a:p>
          <a:p>
            <a:pPr algn="l"/>
            <a:r>
              <a:rPr lang="de-CH" sz="1300" dirty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Gloriastrasse 35</a:t>
            </a:r>
            <a:br>
              <a:rPr lang="de-CH" sz="1300" dirty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de-CH" sz="1300" dirty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Zürich, </a:t>
            </a:r>
            <a:r>
              <a:rPr lang="de-CH" sz="1300" dirty="0" err="1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Switzerland</a:t>
            </a:r>
            <a:endParaRPr lang="en-US" sz="1300" dirty="0">
              <a:solidFill>
                <a:schemeClr val="bg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4A48B9-FDE1-B081-47CE-0208E7265F4A}"/>
              </a:ext>
            </a:extLst>
          </p:cNvPr>
          <p:cNvSpPr txBox="1"/>
          <p:nvPr userDrawn="1"/>
        </p:nvSpPr>
        <p:spPr>
          <a:xfrm>
            <a:off x="9239249" y="5731175"/>
            <a:ext cx="220385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300" b="1" dirty="0">
                <a:solidFill>
                  <a:schemeClr val="bg2"/>
                </a:solidFill>
                <a:latin typeface="+mn-lt"/>
                <a:cs typeface="Calibri Light" panose="020F0302020204030204" pitchFamily="34" charset="0"/>
              </a:rPr>
              <a:t>DEI, Università di Bologna</a:t>
            </a:r>
            <a:br>
              <a:rPr lang="it-IT" sz="1300" dirty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it-IT" sz="1300" dirty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Viale del Risorgimento 2</a:t>
            </a:r>
          </a:p>
          <a:p>
            <a:pPr algn="r"/>
            <a:r>
              <a:rPr lang="it-IT" sz="1300" dirty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Bologna, </a:t>
            </a:r>
            <a:r>
              <a:rPr lang="it-IT" sz="1300" dirty="0" err="1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Italy</a:t>
            </a:r>
            <a:endParaRPr lang="en-US" sz="1300" dirty="0">
              <a:solidFill>
                <a:schemeClr val="bg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D74082-E681-F672-CA78-F185E7B4C7A9}"/>
              </a:ext>
            </a:extLst>
          </p:cNvPr>
          <p:cNvSpPr txBox="1"/>
          <p:nvPr userDrawn="1"/>
        </p:nvSpPr>
        <p:spPr>
          <a:xfrm>
            <a:off x="5961615" y="186318"/>
            <a:ext cx="5718107" cy="6792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72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 i="0" noProof="0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300" b="0" i="0" noProof="0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300" b="0" i="0" noProof="0" dirty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</p:spTree>
    <p:extLst>
      <p:ext uri="{BB962C8B-B14F-4D97-AF65-F5344CB8AC3E}">
        <p14:creationId xmlns:p14="http://schemas.microsoft.com/office/powerpoint/2010/main" val="13681335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930400" y="1974485"/>
            <a:ext cx="3118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6492044" y="1486792"/>
            <a:ext cx="3244192" cy="3244192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6986705" y="2005263"/>
            <a:ext cx="14621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49942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10401090" y="-2"/>
            <a:ext cx="1119398" cy="1119398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9071" y="170391"/>
            <a:ext cx="10080000" cy="620851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071" y="936731"/>
            <a:ext cx="10080002" cy="5220000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 dirty="0"/>
              <a:t>First line of text</a:t>
            </a:r>
          </a:p>
          <a:p>
            <a:pPr lvl="1"/>
            <a:r>
              <a:rPr lang="en-US" noProof="0" dirty="0"/>
              <a:t>Subtitle</a:t>
            </a:r>
          </a:p>
          <a:p>
            <a:pPr lvl="2"/>
            <a:r>
              <a:rPr lang="en-US" noProof="0" dirty="0"/>
              <a:t>Sub-subtitle</a:t>
            </a:r>
          </a:p>
          <a:p>
            <a:pPr lvl="3"/>
            <a:r>
              <a:rPr lang="en-US" noProof="0" dirty="0"/>
              <a:t>This level should not be used</a:t>
            </a:r>
          </a:p>
          <a:p>
            <a:pPr lvl="4"/>
            <a:r>
              <a:rPr lang="en-US" noProof="0" dirty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7072009" y="468873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10475317" y="359629"/>
            <a:ext cx="358403" cy="358403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10666586" y="217186"/>
            <a:ext cx="643289" cy="6432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0460009" y="140930"/>
            <a:ext cx="927344" cy="795801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9071" y="6158090"/>
            <a:ext cx="1106079" cy="184346"/>
          </a:xfrm>
          <a:prstGeom prst="rect">
            <a:avLst/>
          </a:prstGeom>
        </p:spPr>
      </p:pic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05907" y="6137853"/>
            <a:ext cx="6840000" cy="288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 date or a third information here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422" y="6137082"/>
            <a:ext cx="540000" cy="288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A stuffed bear wearing a black shirt&#10;&#10;Description automatically generated with low confidence">
            <a:extLst>
              <a:ext uri="{FF2B5EF4-FFF2-40B4-BE49-F238E27FC236}">
                <a16:creationId xmlns:a16="http://schemas.microsoft.com/office/drawing/2014/main" id="{4001880A-4BAC-DE31-B9A7-054F600CD9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l="14928" t="-9941" r="10189" b="38867"/>
          <a:stretch/>
        </p:blipFill>
        <p:spPr>
          <a:xfrm>
            <a:off x="10379073" y="5780551"/>
            <a:ext cx="744659" cy="66326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9039404-9948-AB49-571D-1FF77377EEFA}"/>
              </a:ext>
            </a:extLst>
          </p:cNvPr>
          <p:cNvGrpSpPr/>
          <p:nvPr userDrawn="1"/>
        </p:nvGrpSpPr>
        <p:grpSpPr>
          <a:xfrm>
            <a:off x="1350604" y="5975351"/>
            <a:ext cx="1922271" cy="504102"/>
            <a:chOff x="1356955" y="6023605"/>
            <a:chExt cx="1617190" cy="4240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5AABE6-3DAE-79EC-6864-C6E1EA8A67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5"/>
            <a:srcRect t="68294"/>
            <a:stretch/>
          </p:blipFill>
          <p:spPr>
            <a:xfrm>
              <a:off x="1820865" y="6127519"/>
              <a:ext cx="1153280" cy="29055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1868362-AE1D-5EC9-F756-A3B567B9C5D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5"/>
            <a:srcRect b="28327"/>
            <a:stretch/>
          </p:blipFill>
          <p:spPr>
            <a:xfrm>
              <a:off x="1356955" y="6023605"/>
              <a:ext cx="744659" cy="4240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851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6" r:id="rId10"/>
    <p:sldLayoutId id="2147483716" r:id="rId11"/>
    <p:sldLayoutId id="2147483714" r:id="rId12"/>
    <p:sldLayoutId id="2147483695" r:id="rId13"/>
    <p:sldLayoutId id="2147483711" r:id="rId14"/>
    <p:sldLayoutId id="2147483712" r:id="rId15"/>
    <p:sldLayoutId id="2147483670" r:id="rId16"/>
    <p:sldLayoutId id="2147483676" r:id="rId17"/>
    <p:sldLayoutId id="2147483717" r:id="rId18"/>
    <p:sldLayoutId id="2147483700" r:id="rId19"/>
  </p:sldLayoutIdLst>
  <p:hf hdr="0" ftr="0"/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3600" b="0" i="0" kern="1200" spc="-100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88004" indent="-288004" algn="l" defTabSz="720000" rtl="0" eaLnBrk="1" latinLnBrk="0" hangingPunct="1">
        <a:lnSpc>
          <a:spcPct val="100000"/>
        </a:lnSpc>
        <a:spcBef>
          <a:spcPts val="1200"/>
        </a:spcBef>
        <a:buClr>
          <a:schemeClr val="tx1"/>
        </a:buClr>
        <a:buSzPct val="90000"/>
        <a:buFont typeface="Arial" panose="020B0604020202020204" pitchFamily="34" charset="0"/>
        <a:buChar char="•"/>
        <a:defRPr sz="2400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504000" indent="-216004" algn="l" defTabSz="7200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720000" indent="-216004" algn="l" defTabSz="864017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936000" indent="-216004" algn="l" defTabSz="864017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1152000" indent="-216004" algn="l" defTabSz="864017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2117BFB-6A94-92D4-4912-DF9941E45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476" y="2652630"/>
            <a:ext cx="5760000" cy="360000"/>
          </a:xfrm>
        </p:spPr>
        <p:txBody>
          <a:bodyPr/>
          <a:lstStyle/>
          <a:p>
            <a:r>
              <a:rPr lang="en-US" noProof="0" dirty="0"/>
              <a:t>Integrated Systems Laboratory (ETH Zürich)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153F-FE02-7745-B797-DA5882446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474" y="1932630"/>
            <a:ext cx="10080000" cy="1080000"/>
          </a:xfrm>
        </p:spPr>
        <p:txBody>
          <a:bodyPr/>
          <a:lstStyle/>
          <a:p>
            <a:r>
              <a:rPr lang="en-US" noProof="0" dirty="0" err="1"/>
              <a:t>SoftHier</a:t>
            </a:r>
            <a:r>
              <a:rPr lang="en-US" noProof="0" dirty="0"/>
              <a:t> Dequantization Meeting 25.08.25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1745455-8B2F-A374-E37E-FDB6DFF436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>
                <a:latin typeface="+mj-lt"/>
              </a:rPr>
              <a:t>Fatih Özdemir</a:t>
            </a:r>
            <a:r>
              <a:rPr lang="en-US" noProof="0" dirty="0"/>
              <a:t>	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Bowen Wang</a:t>
            </a:r>
          </a:p>
          <a:p>
            <a:r>
              <a:rPr lang="en-US" b="1" dirty="0" err="1">
                <a:latin typeface="+mj-lt"/>
              </a:rPr>
              <a:t>Yawei</a:t>
            </a:r>
            <a:r>
              <a:rPr lang="en-US" b="1" dirty="0">
                <a:latin typeface="+mj-lt"/>
              </a:rPr>
              <a:t> Li</a:t>
            </a:r>
          </a:p>
          <a:p>
            <a:r>
              <a:rPr lang="en-US" b="1" noProof="0" dirty="0">
                <a:latin typeface="+mj-lt"/>
              </a:rPr>
              <a:t>Angelo Garofalo</a:t>
            </a:r>
          </a:p>
          <a:p>
            <a:r>
              <a:rPr lang="en-US" noProof="0" dirty="0"/>
              <a:t>	</a:t>
            </a:r>
            <a:r>
              <a:rPr lang="en-US" dirty="0">
                <a:solidFill>
                  <a:schemeClr val="tx1"/>
                </a:solidFill>
              </a:rPr>
              <a:t>	</a:t>
            </a:r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33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4783-AF9E-48FD-438E-F24ABCF8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SoftHier</a:t>
            </a:r>
            <a:r>
              <a:rPr lang="en-US" dirty="0"/>
              <a:t> Building Block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71FF-7914-2569-92A9-F066DE649E0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8CF86-F5B5-95A9-2E9B-0B1C47B1F6A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6" name="直接箭头连接符 188">
            <a:extLst>
              <a:ext uri="{FF2B5EF4-FFF2-40B4-BE49-F238E27FC236}">
                <a16:creationId xmlns:a16="http://schemas.microsoft.com/office/drawing/2014/main" id="{C1890F62-419A-170C-14C0-83F3008801B7}"/>
              </a:ext>
            </a:extLst>
          </p:cNvPr>
          <p:cNvCxnSpPr>
            <a:cxnSpLocks/>
          </p:cNvCxnSpPr>
          <p:nvPr/>
        </p:nvCxnSpPr>
        <p:spPr>
          <a:xfrm>
            <a:off x="8258416" y="3675495"/>
            <a:ext cx="747128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7DFD3062-CB69-8E14-80D7-FE49B24F1F1B}"/>
              </a:ext>
            </a:extLst>
          </p:cNvPr>
          <p:cNvSpPr txBox="1">
            <a:spLocks/>
          </p:cNvSpPr>
          <p:nvPr/>
        </p:nvSpPr>
        <p:spPr>
          <a:xfrm>
            <a:off x="-369130" y="864002"/>
            <a:ext cx="11638929" cy="620851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l" defTabSz="8640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spc="-100" baseline="0">
                <a:ln w="15875" cmpd="sng">
                  <a:noFill/>
                  <a:round/>
                </a:ln>
                <a:solidFill>
                  <a:schemeClr val="accent3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86401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-100" normalizeH="0" baseline="0" noProof="0" dirty="0">
              <a:ln w="15875" cmpd="sng">
                <a:noFill/>
                <a:round/>
              </a:ln>
              <a:solidFill>
                <a:srgbClr val="168638"/>
              </a:solidFill>
              <a:effectLst/>
              <a:uLnTx/>
              <a:uFillTx/>
              <a:latin typeface="Calibri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8" name="组合 183">
            <a:extLst>
              <a:ext uri="{FF2B5EF4-FFF2-40B4-BE49-F238E27FC236}">
                <a16:creationId xmlns:a16="http://schemas.microsoft.com/office/drawing/2014/main" id="{94C85AEA-2E57-47D3-66B5-A91034CBD7FD}"/>
              </a:ext>
            </a:extLst>
          </p:cNvPr>
          <p:cNvGrpSpPr/>
          <p:nvPr/>
        </p:nvGrpSpPr>
        <p:grpSpPr>
          <a:xfrm>
            <a:off x="8985343" y="1360202"/>
            <a:ext cx="2543582" cy="3532024"/>
            <a:chOff x="8911347" y="1808911"/>
            <a:chExt cx="2752333" cy="3821897"/>
          </a:xfrm>
        </p:grpSpPr>
        <p:grpSp>
          <p:nvGrpSpPr>
            <p:cNvPr id="9" name="组合 189">
              <a:extLst>
                <a:ext uri="{FF2B5EF4-FFF2-40B4-BE49-F238E27FC236}">
                  <a16:creationId xmlns:a16="http://schemas.microsoft.com/office/drawing/2014/main" id="{9031D591-B1B6-AAC0-5925-B6199E5B42A9}"/>
                </a:ext>
              </a:extLst>
            </p:cNvPr>
            <p:cNvGrpSpPr/>
            <p:nvPr/>
          </p:nvGrpSpPr>
          <p:grpSpPr>
            <a:xfrm>
              <a:off x="8990357" y="1808911"/>
              <a:ext cx="2563249" cy="3821897"/>
              <a:chOff x="9460341" y="1090900"/>
              <a:chExt cx="2563249" cy="3821897"/>
            </a:xfrm>
          </p:grpSpPr>
          <p:sp>
            <p:nvSpPr>
              <p:cNvPr id="11" name="矩形 191">
                <a:extLst>
                  <a:ext uri="{FF2B5EF4-FFF2-40B4-BE49-F238E27FC236}">
                    <a16:creationId xmlns:a16="http://schemas.microsoft.com/office/drawing/2014/main" id="{2E9FC1EF-6DBC-09A2-93B7-BFE9BA5AD426}"/>
                  </a:ext>
                </a:extLst>
              </p:cNvPr>
              <p:cNvSpPr/>
              <p:nvPr/>
            </p:nvSpPr>
            <p:spPr>
              <a:xfrm>
                <a:off x="10045563" y="1998136"/>
                <a:ext cx="695325" cy="23252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Core 0</a:t>
                </a:r>
                <a:endParaRPr lang="zh-CN" altLang="en-US" sz="14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2" name="矩形 192">
                <a:extLst>
                  <a:ext uri="{FF2B5EF4-FFF2-40B4-BE49-F238E27FC236}">
                    <a16:creationId xmlns:a16="http://schemas.microsoft.com/office/drawing/2014/main" id="{2C4E4568-D146-AF69-D7F9-2EFD7D4593A5}"/>
                  </a:ext>
                </a:extLst>
              </p:cNvPr>
              <p:cNvSpPr/>
              <p:nvPr/>
            </p:nvSpPr>
            <p:spPr>
              <a:xfrm>
                <a:off x="10045563" y="2242596"/>
                <a:ext cx="695325" cy="23252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Core 0</a:t>
                </a:r>
                <a:endParaRPr lang="zh-CN" altLang="en-US" sz="14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3" name="矩形 193">
                <a:extLst>
                  <a:ext uri="{FF2B5EF4-FFF2-40B4-BE49-F238E27FC236}">
                    <a16:creationId xmlns:a16="http://schemas.microsoft.com/office/drawing/2014/main" id="{CBE3EA8F-F1FF-2D1F-3B89-42D1779588CD}"/>
                  </a:ext>
                </a:extLst>
              </p:cNvPr>
              <p:cNvSpPr/>
              <p:nvPr/>
            </p:nvSpPr>
            <p:spPr>
              <a:xfrm>
                <a:off x="10045563" y="2487056"/>
                <a:ext cx="695325" cy="23252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…</a:t>
                </a:r>
                <a:endParaRPr lang="zh-CN" altLang="en-US" sz="14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4" name="矩形 194">
                <a:extLst>
                  <a:ext uri="{FF2B5EF4-FFF2-40B4-BE49-F238E27FC236}">
                    <a16:creationId xmlns:a16="http://schemas.microsoft.com/office/drawing/2014/main" id="{0C503B5D-A2B6-3D86-285A-E64F9750E54B}"/>
                  </a:ext>
                </a:extLst>
              </p:cNvPr>
              <p:cNvSpPr/>
              <p:nvPr/>
            </p:nvSpPr>
            <p:spPr>
              <a:xfrm>
                <a:off x="10045563" y="2731516"/>
                <a:ext cx="695325" cy="23252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Core n</a:t>
                </a:r>
                <a:endParaRPr lang="zh-CN" altLang="en-US" sz="14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5" name="矩形 195">
                <a:extLst>
                  <a:ext uri="{FF2B5EF4-FFF2-40B4-BE49-F238E27FC236}">
                    <a16:creationId xmlns:a16="http://schemas.microsoft.com/office/drawing/2014/main" id="{190454B3-EDED-9073-26B0-355D32D64415}"/>
                  </a:ext>
                </a:extLst>
              </p:cNvPr>
              <p:cNvSpPr/>
              <p:nvPr/>
            </p:nvSpPr>
            <p:spPr>
              <a:xfrm>
                <a:off x="10779978" y="1998136"/>
                <a:ext cx="775759" cy="971873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RedMule</a:t>
                </a:r>
                <a:endParaRPr lang="zh-CN" altLang="en-US" sz="14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6" name="矩形 196">
                <a:extLst>
                  <a:ext uri="{FF2B5EF4-FFF2-40B4-BE49-F238E27FC236}">
                    <a16:creationId xmlns:a16="http://schemas.microsoft.com/office/drawing/2014/main" id="{67A6E8C1-9647-E704-65A1-E6A13E357B9A}"/>
                  </a:ext>
                </a:extLst>
              </p:cNvPr>
              <p:cNvSpPr/>
              <p:nvPr/>
            </p:nvSpPr>
            <p:spPr>
              <a:xfrm>
                <a:off x="11594828" y="1998136"/>
                <a:ext cx="428762" cy="97187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 b="1" dirty="0" err="1">
                    <a:solidFill>
                      <a:schemeClr val="bg2"/>
                    </a:solidFill>
                    <a:latin typeface="Arial Narrow" panose="020B0604020202020204" pitchFamily="34" charset="0"/>
                    <a:cs typeface="Arial Narrow" panose="020B0604020202020204" pitchFamily="34" charset="0"/>
                  </a:rPr>
                  <a:t>i</a:t>
                </a:r>
                <a:r>
                  <a:rPr lang="en-US" altLang="zh-CN" sz="1400" b="1" i="0" cap="none" spc="0" dirty="0" err="1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DMA</a:t>
                </a:r>
                <a:endParaRPr lang="zh-CN" altLang="en-US" sz="14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7" name="矩形 197">
                <a:extLst>
                  <a:ext uri="{FF2B5EF4-FFF2-40B4-BE49-F238E27FC236}">
                    <a16:creationId xmlns:a16="http://schemas.microsoft.com/office/drawing/2014/main" id="{74CE170C-0119-9720-3DBA-A8B4F563E179}"/>
                  </a:ext>
                </a:extLst>
              </p:cNvPr>
              <p:cNvSpPr/>
              <p:nvPr/>
            </p:nvSpPr>
            <p:spPr>
              <a:xfrm>
                <a:off x="9623289" y="1728415"/>
                <a:ext cx="2400301" cy="23252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bg2"/>
                    </a:solidFill>
                    <a:latin typeface="Arial Narrow" panose="020B0604020202020204" pitchFamily="34" charset="0"/>
                    <a:cs typeface="Arial Narrow" panose="020B0604020202020204" pitchFamily="34" charset="0"/>
                  </a:rPr>
                  <a:t>I $</a:t>
                </a:r>
                <a:endParaRPr lang="zh-CN" altLang="en-US" sz="14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8" name="矩形 198">
                <a:extLst>
                  <a:ext uri="{FF2B5EF4-FFF2-40B4-BE49-F238E27FC236}">
                    <a16:creationId xmlns:a16="http://schemas.microsoft.com/office/drawing/2014/main" id="{FD423EBE-75F9-615D-3766-4195FC82CCD3}"/>
                  </a:ext>
                </a:extLst>
              </p:cNvPr>
              <p:cNvSpPr/>
              <p:nvPr/>
            </p:nvSpPr>
            <p:spPr>
              <a:xfrm>
                <a:off x="9623289" y="3264472"/>
                <a:ext cx="2400301" cy="132011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bg2"/>
                    </a:solidFill>
                    <a:latin typeface="Arial Narrow" panose="020B0604020202020204" pitchFamily="34" charset="0"/>
                    <a:cs typeface="Arial Narrow" panose="020B0604020202020204" pitchFamily="34" charset="0"/>
                  </a:rPr>
                  <a:t>TCDM (Multi-banked L1)</a:t>
                </a:r>
                <a:endParaRPr lang="zh-CN" altLang="en-US" sz="14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9" name="矩形 199">
                <a:extLst>
                  <a:ext uri="{FF2B5EF4-FFF2-40B4-BE49-F238E27FC236}">
                    <a16:creationId xmlns:a16="http://schemas.microsoft.com/office/drawing/2014/main" id="{7B98AA5B-079A-EA8A-55E5-BCD438F07D37}"/>
                  </a:ext>
                </a:extLst>
              </p:cNvPr>
              <p:cNvSpPr/>
              <p:nvPr/>
            </p:nvSpPr>
            <p:spPr>
              <a:xfrm>
                <a:off x="9623289" y="1992169"/>
                <a:ext cx="383183" cy="97187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1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CTRL</a:t>
                </a:r>
              </a:p>
              <a:p>
                <a:pPr algn="ctr"/>
                <a:r>
                  <a:rPr lang="en-US" altLang="zh-CN" sz="1100" b="1" dirty="0">
                    <a:solidFill>
                      <a:schemeClr val="bg2"/>
                    </a:solidFill>
                    <a:latin typeface="Arial Narrow" panose="020B0604020202020204" pitchFamily="34" charset="0"/>
                    <a:cs typeface="Arial Narrow" panose="020B0604020202020204" pitchFamily="34" charset="0"/>
                  </a:rPr>
                  <a:t>REG</a:t>
                </a:r>
                <a:endParaRPr lang="zh-CN" altLang="en-US" sz="11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20" name="矩形 200">
                <a:extLst>
                  <a:ext uri="{FF2B5EF4-FFF2-40B4-BE49-F238E27FC236}">
                    <a16:creationId xmlns:a16="http://schemas.microsoft.com/office/drawing/2014/main" id="{1134BC70-DDB6-4809-A4E2-D62A61AD5507}"/>
                  </a:ext>
                </a:extLst>
              </p:cNvPr>
              <p:cNvSpPr/>
              <p:nvPr/>
            </p:nvSpPr>
            <p:spPr>
              <a:xfrm>
                <a:off x="9617862" y="2995270"/>
                <a:ext cx="2400300" cy="23797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bg2"/>
                    </a:solidFill>
                    <a:latin typeface="Arial Narrow" panose="020B0604020202020204" pitchFamily="34" charset="0"/>
                    <a:cs typeface="Arial Narrow" panose="020B0604020202020204" pitchFamily="34" charset="0"/>
                  </a:rPr>
                  <a:t>Interconnect</a:t>
                </a:r>
                <a:endParaRPr lang="zh-CN" altLang="en-US" sz="1400" b="1" i="0" cap="none" spc="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21" name="直接箭头连接符 201">
                <a:extLst>
                  <a:ext uri="{FF2B5EF4-FFF2-40B4-BE49-F238E27FC236}">
                    <a16:creationId xmlns:a16="http://schemas.microsoft.com/office/drawing/2014/main" id="{6E86FA79-3D4A-C16A-7FE7-F1D977EA850C}"/>
                  </a:ext>
                </a:extLst>
              </p:cNvPr>
              <p:cNvCxnSpPr>
                <a:cxnSpLocks/>
                <a:stCxn id="24" idx="1"/>
              </p:cNvCxnSpPr>
              <p:nvPr/>
            </p:nvCxnSpPr>
            <p:spPr>
              <a:xfrm>
                <a:off x="9460341" y="1257419"/>
                <a:ext cx="0" cy="1847573"/>
              </a:xfrm>
              <a:prstGeom prst="straightConnector1">
                <a:avLst/>
              </a:prstGeom>
              <a:ln w="19050">
                <a:solidFill>
                  <a:schemeClr val="accent3"/>
                </a:solidFill>
                <a:prstDash val="sys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02">
                <a:extLst>
                  <a:ext uri="{FF2B5EF4-FFF2-40B4-BE49-F238E27FC236}">
                    <a16:creationId xmlns:a16="http://schemas.microsoft.com/office/drawing/2014/main" id="{7A04E094-3661-2859-83FE-FC990FC0B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24415" y="1419692"/>
                <a:ext cx="0" cy="617445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文本框 203">
                <a:extLst>
                  <a:ext uri="{FF2B5EF4-FFF2-40B4-BE49-F238E27FC236}">
                    <a16:creationId xmlns:a16="http://schemas.microsoft.com/office/drawing/2014/main" id="{911A50C9-849A-BAB3-3287-22D40BC5F5FB}"/>
                  </a:ext>
                </a:extLst>
              </p:cNvPr>
              <p:cNvSpPr txBox="1"/>
              <p:nvPr/>
            </p:nvSpPr>
            <p:spPr>
              <a:xfrm>
                <a:off x="10181720" y="1359479"/>
                <a:ext cx="1836442" cy="3330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400" i="0" cap="none" spc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latin typeface="+mj-lt"/>
                    <a:cs typeface="Arial Narrow" panose="020B0604020202020204" pitchFamily="34" charset="0"/>
                  </a:rPr>
                  <a:t>To Data NoC Router</a:t>
                </a:r>
                <a:endParaRPr lang="zh-CN" altLang="en-US" sz="1400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24" name="文本框 204">
                <a:extLst>
                  <a:ext uri="{FF2B5EF4-FFF2-40B4-BE49-F238E27FC236}">
                    <a16:creationId xmlns:a16="http://schemas.microsoft.com/office/drawing/2014/main" id="{B20C391C-C421-1A91-D98A-A48DAD4338A0}"/>
                  </a:ext>
                </a:extLst>
              </p:cNvPr>
              <p:cNvSpPr txBox="1"/>
              <p:nvPr/>
            </p:nvSpPr>
            <p:spPr>
              <a:xfrm>
                <a:off x="9460341" y="1090900"/>
                <a:ext cx="1721193" cy="3330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400" i="0" cap="none" spc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latin typeface="+mj-lt"/>
                    <a:cs typeface="Arial Narrow" panose="020B0604020202020204" pitchFamily="34" charset="0"/>
                  </a:rPr>
                  <a:t>To Sync NoC Router</a:t>
                </a:r>
                <a:endParaRPr lang="zh-CN" altLang="en-US" sz="1400" dirty="0">
                  <a:solidFill>
                    <a:schemeClr val="accent3"/>
                  </a:solidFill>
                </a:endParaRPr>
              </a:p>
            </p:txBody>
          </p:sp>
          <p:cxnSp>
            <p:nvCxnSpPr>
              <p:cNvPr id="25" name="直接箭头连接符 205">
                <a:extLst>
                  <a:ext uri="{FF2B5EF4-FFF2-40B4-BE49-F238E27FC236}">
                    <a16:creationId xmlns:a16="http://schemas.microsoft.com/office/drawing/2014/main" id="{8BA13B46-214E-5EE1-46B9-8C7428C08743}"/>
                  </a:ext>
                </a:extLst>
              </p:cNvPr>
              <p:cNvCxnSpPr>
                <a:cxnSpLocks/>
                <a:endCxn id="20" idx="1"/>
              </p:cNvCxnSpPr>
              <p:nvPr/>
            </p:nvCxnSpPr>
            <p:spPr>
              <a:xfrm>
                <a:off x="9460341" y="3114257"/>
                <a:ext cx="157521" cy="0"/>
              </a:xfrm>
              <a:prstGeom prst="straightConnector1">
                <a:avLst/>
              </a:prstGeom>
              <a:ln w="19050">
                <a:solidFill>
                  <a:schemeClr val="accent3"/>
                </a:solidFill>
                <a:prstDash val="sys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文本框 206">
                <a:extLst>
                  <a:ext uri="{FF2B5EF4-FFF2-40B4-BE49-F238E27FC236}">
                    <a16:creationId xmlns:a16="http://schemas.microsoft.com/office/drawing/2014/main" id="{66EC5E95-3B63-0D9B-4ED0-A71EC43481CD}"/>
                  </a:ext>
                </a:extLst>
              </p:cNvPr>
              <p:cNvSpPr txBox="1"/>
              <p:nvPr/>
            </p:nvSpPr>
            <p:spPr>
              <a:xfrm>
                <a:off x="9943249" y="4479850"/>
                <a:ext cx="1721193" cy="43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000" b="1" i="0" cap="none" spc="0" dirty="0">
                    <a:ln>
                      <a:noFill/>
                    </a:ln>
                    <a:solidFill>
                      <a:schemeClr val="accent6"/>
                    </a:solidFill>
                    <a:effectLst/>
                    <a:latin typeface="+mj-lt"/>
                    <a:cs typeface="Arial Narrow" panose="020B0604020202020204" pitchFamily="34" charset="0"/>
                  </a:rPr>
                  <a:t>TE Cluster</a:t>
                </a:r>
                <a:endParaRPr lang="zh-CN" altLang="en-US" sz="2000" b="1" dirty="0">
                  <a:solidFill>
                    <a:schemeClr val="accent6"/>
                  </a:solidFill>
                </a:endParaRPr>
              </a:p>
            </p:txBody>
          </p:sp>
        </p:grpSp>
        <p:sp>
          <p:nvSpPr>
            <p:cNvPr id="10" name="矩形 190">
              <a:extLst>
                <a:ext uri="{FF2B5EF4-FFF2-40B4-BE49-F238E27FC236}">
                  <a16:creationId xmlns:a16="http://schemas.microsoft.com/office/drawing/2014/main" id="{005E5DC7-DEA5-F7E7-ADD9-10FF52ED9299}"/>
                </a:ext>
              </a:extLst>
            </p:cNvPr>
            <p:cNvSpPr/>
            <p:nvPr/>
          </p:nvSpPr>
          <p:spPr>
            <a:xfrm>
              <a:off x="8911347" y="2385269"/>
              <a:ext cx="2752333" cy="3209454"/>
            </a:xfrm>
            <a:prstGeom prst="rect">
              <a:avLst/>
            </a:prstGeom>
            <a:noFill/>
            <a:ln w="19050">
              <a:solidFill>
                <a:srgbClr val="89937A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grpSp>
        <p:nvGrpSpPr>
          <p:cNvPr id="27" name="组合 267">
            <a:extLst>
              <a:ext uri="{FF2B5EF4-FFF2-40B4-BE49-F238E27FC236}">
                <a16:creationId xmlns:a16="http://schemas.microsoft.com/office/drawing/2014/main" id="{A1A79BF3-0D5C-E05B-A5AB-334786CC36A7}"/>
              </a:ext>
            </a:extLst>
          </p:cNvPr>
          <p:cNvGrpSpPr/>
          <p:nvPr/>
        </p:nvGrpSpPr>
        <p:grpSpPr>
          <a:xfrm>
            <a:off x="4839624" y="1967795"/>
            <a:ext cx="3734488" cy="3864046"/>
            <a:chOff x="6006810" y="2269012"/>
            <a:chExt cx="2976375" cy="3079633"/>
          </a:xfrm>
        </p:grpSpPr>
        <p:grpSp>
          <p:nvGrpSpPr>
            <p:cNvPr id="28" name="组合 144">
              <a:extLst>
                <a:ext uri="{FF2B5EF4-FFF2-40B4-BE49-F238E27FC236}">
                  <a16:creationId xmlns:a16="http://schemas.microsoft.com/office/drawing/2014/main" id="{09144AE8-3348-0276-1DE7-CDB84152E40B}"/>
                </a:ext>
              </a:extLst>
            </p:cNvPr>
            <p:cNvGrpSpPr/>
            <p:nvPr/>
          </p:nvGrpSpPr>
          <p:grpSpPr>
            <a:xfrm>
              <a:off x="6404506" y="2655319"/>
              <a:ext cx="2356033" cy="2349015"/>
              <a:chOff x="405578" y="1206905"/>
              <a:chExt cx="1708151" cy="1703063"/>
            </a:xfrm>
            <a:solidFill>
              <a:srgbClr val="89937A"/>
            </a:solidFill>
          </p:grpSpPr>
          <p:sp>
            <p:nvSpPr>
              <p:cNvPr id="115" name="矩形 251">
                <a:extLst>
                  <a:ext uri="{FF2B5EF4-FFF2-40B4-BE49-F238E27FC236}">
                    <a16:creationId xmlns:a16="http://schemas.microsoft.com/office/drawing/2014/main" id="{C73480D2-8921-D38E-7640-02B97043F9D9}"/>
                  </a:ext>
                </a:extLst>
              </p:cNvPr>
              <p:cNvSpPr/>
              <p:nvPr/>
            </p:nvSpPr>
            <p:spPr>
              <a:xfrm>
                <a:off x="405578" y="1206905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16" name="矩形 252">
                <a:extLst>
                  <a:ext uri="{FF2B5EF4-FFF2-40B4-BE49-F238E27FC236}">
                    <a16:creationId xmlns:a16="http://schemas.microsoft.com/office/drawing/2014/main" id="{174EF140-3598-BD4F-95C8-1F6462908EFE}"/>
                  </a:ext>
                </a:extLst>
              </p:cNvPr>
              <p:cNvSpPr/>
              <p:nvPr/>
            </p:nvSpPr>
            <p:spPr>
              <a:xfrm>
                <a:off x="839495" y="1206905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17" name="矩形 253">
                <a:extLst>
                  <a:ext uri="{FF2B5EF4-FFF2-40B4-BE49-F238E27FC236}">
                    <a16:creationId xmlns:a16="http://schemas.microsoft.com/office/drawing/2014/main" id="{382D5E0A-26F4-E4FE-FBB3-D25993ACFB05}"/>
                  </a:ext>
                </a:extLst>
              </p:cNvPr>
              <p:cNvSpPr/>
              <p:nvPr/>
            </p:nvSpPr>
            <p:spPr>
              <a:xfrm>
                <a:off x="1273412" y="1206905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18" name="矩形 254">
                <a:extLst>
                  <a:ext uri="{FF2B5EF4-FFF2-40B4-BE49-F238E27FC236}">
                    <a16:creationId xmlns:a16="http://schemas.microsoft.com/office/drawing/2014/main" id="{4DDFAB9C-07B7-501E-8A81-95F58310FF2B}"/>
                  </a:ext>
                </a:extLst>
              </p:cNvPr>
              <p:cNvSpPr/>
              <p:nvPr/>
            </p:nvSpPr>
            <p:spPr>
              <a:xfrm>
                <a:off x="1707329" y="1206905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19" name="矩形 255">
                <a:extLst>
                  <a:ext uri="{FF2B5EF4-FFF2-40B4-BE49-F238E27FC236}">
                    <a16:creationId xmlns:a16="http://schemas.microsoft.com/office/drawing/2014/main" id="{8F986E89-D41F-BDC6-48A6-AD199B51F3B3}"/>
                  </a:ext>
                </a:extLst>
              </p:cNvPr>
              <p:cNvSpPr/>
              <p:nvPr/>
            </p:nvSpPr>
            <p:spPr>
              <a:xfrm>
                <a:off x="405578" y="1639126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20" name="矩形 256">
                <a:extLst>
                  <a:ext uri="{FF2B5EF4-FFF2-40B4-BE49-F238E27FC236}">
                    <a16:creationId xmlns:a16="http://schemas.microsoft.com/office/drawing/2014/main" id="{8C111191-1F68-26CD-D9BE-09A2751E3A24}"/>
                  </a:ext>
                </a:extLst>
              </p:cNvPr>
              <p:cNvSpPr/>
              <p:nvPr/>
            </p:nvSpPr>
            <p:spPr>
              <a:xfrm>
                <a:off x="839495" y="1639126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21" name="矩形 257">
                <a:extLst>
                  <a:ext uri="{FF2B5EF4-FFF2-40B4-BE49-F238E27FC236}">
                    <a16:creationId xmlns:a16="http://schemas.microsoft.com/office/drawing/2014/main" id="{3C1A3582-BAF3-1034-903A-ACCA8A5F78E0}"/>
                  </a:ext>
                </a:extLst>
              </p:cNvPr>
              <p:cNvSpPr/>
              <p:nvPr/>
            </p:nvSpPr>
            <p:spPr>
              <a:xfrm>
                <a:off x="1273412" y="1639126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22" name="矩形 258">
                <a:extLst>
                  <a:ext uri="{FF2B5EF4-FFF2-40B4-BE49-F238E27FC236}">
                    <a16:creationId xmlns:a16="http://schemas.microsoft.com/office/drawing/2014/main" id="{4BC23D18-8320-7C82-19BF-3C6D239A8FA5}"/>
                  </a:ext>
                </a:extLst>
              </p:cNvPr>
              <p:cNvSpPr/>
              <p:nvPr/>
            </p:nvSpPr>
            <p:spPr>
              <a:xfrm>
                <a:off x="1707329" y="1639126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23" name="矩形 259">
                <a:extLst>
                  <a:ext uri="{FF2B5EF4-FFF2-40B4-BE49-F238E27FC236}">
                    <a16:creationId xmlns:a16="http://schemas.microsoft.com/office/drawing/2014/main" id="{EA2F7AF1-5673-9E6A-0B8D-5664DD8C4435}"/>
                  </a:ext>
                </a:extLst>
              </p:cNvPr>
              <p:cNvSpPr/>
              <p:nvPr/>
            </p:nvSpPr>
            <p:spPr>
              <a:xfrm>
                <a:off x="405578" y="2071347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24" name="矩形 260">
                <a:extLst>
                  <a:ext uri="{FF2B5EF4-FFF2-40B4-BE49-F238E27FC236}">
                    <a16:creationId xmlns:a16="http://schemas.microsoft.com/office/drawing/2014/main" id="{7D5744FA-9F63-1F1C-DCD7-23C0D110AEEE}"/>
                  </a:ext>
                </a:extLst>
              </p:cNvPr>
              <p:cNvSpPr/>
              <p:nvPr/>
            </p:nvSpPr>
            <p:spPr>
              <a:xfrm>
                <a:off x="839495" y="2071347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25" name="矩形 261">
                <a:extLst>
                  <a:ext uri="{FF2B5EF4-FFF2-40B4-BE49-F238E27FC236}">
                    <a16:creationId xmlns:a16="http://schemas.microsoft.com/office/drawing/2014/main" id="{776AAE71-481F-87F6-8658-D43D9292820F}"/>
                  </a:ext>
                </a:extLst>
              </p:cNvPr>
              <p:cNvSpPr/>
              <p:nvPr/>
            </p:nvSpPr>
            <p:spPr>
              <a:xfrm>
                <a:off x="1273412" y="2071347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26" name="矩形 262">
                <a:extLst>
                  <a:ext uri="{FF2B5EF4-FFF2-40B4-BE49-F238E27FC236}">
                    <a16:creationId xmlns:a16="http://schemas.microsoft.com/office/drawing/2014/main" id="{5D40AAC8-8F47-1DB9-4FA9-3E4C9FFDED22}"/>
                  </a:ext>
                </a:extLst>
              </p:cNvPr>
              <p:cNvSpPr/>
              <p:nvPr/>
            </p:nvSpPr>
            <p:spPr>
              <a:xfrm>
                <a:off x="1707329" y="2071347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27" name="矩形 263">
                <a:extLst>
                  <a:ext uri="{FF2B5EF4-FFF2-40B4-BE49-F238E27FC236}">
                    <a16:creationId xmlns:a16="http://schemas.microsoft.com/office/drawing/2014/main" id="{66639625-E401-A4BB-8525-400ED95793F5}"/>
                  </a:ext>
                </a:extLst>
              </p:cNvPr>
              <p:cNvSpPr/>
              <p:nvPr/>
            </p:nvSpPr>
            <p:spPr>
              <a:xfrm>
                <a:off x="405578" y="2503568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28" name="矩形 264">
                <a:extLst>
                  <a:ext uri="{FF2B5EF4-FFF2-40B4-BE49-F238E27FC236}">
                    <a16:creationId xmlns:a16="http://schemas.microsoft.com/office/drawing/2014/main" id="{B7A60B16-3B7B-0528-F34D-1735B6654477}"/>
                  </a:ext>
                </a:extLst>
              </p:cNvPr>
              <p:cNvSpPr/>
              <p:nvPr/>
            </p:nvSpPr>
            <p:spPr>
              <a:xfrm>
                <a:off x="839495" y="2503568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29" name="矩形 265">
                <a:extLst>
                  <a:ext uri="{FF2B5EF4-FFF2-40B4-BE49-F238E27FC236}">
                    <a16:creationId xmlns:a16="http://schemas.microsoft.com/office/drawing/2014/main" id="{74F52254-50CE-5297-2F19-22A9113C996D}"/>
                  </a:ext>
                </a:extLst>
              </p:cNvPr>
              <p:cNvSpPr/>
              <p:nvPr/>
            </p:nvSpPr>
            <p:spPr>
              <a:xfrm>
                <a:off x="1273412" y="2503568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sp>
            <p:nvSpPr>
              <p:cNvPr id="130" name="矩形 266">
                <a:extLst>
                  <a:ext uri="{FF2B5EF4-FFF2-40B4-BE49-F238E27FC236}">
                    <a16:creationId xmlns:a16="http://schemas.microsoft.com/office/drawing/2014/main" id="{C9E0B41E-C782-E286-F64C-228E168D9E70}"/>
                  </a:ext>
                </a:extLst>
              </p:cNvPr>
              <p:cNvSpPr/>
              <p:nvPr/>
            </p:nvSpPr>
            <p:spPr>
              <a:xfrm>
                <a:off x="1707329" y="2503568"/>
                <a:ext cx="406400" cy="4064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C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</p:grpSp>
        <p:grpSp>
          <p:nvGrpSpPr>
            <p:cNvPr id="29" name="组合 145">
              <a:extLst>
                <a:ext uri="{FF2B5EF4-FFF2-40B4-BE49-F238E27FC236}">
                  <a16:creationId xmlns:a16="http://schemas.microsoft.com/office/drawing/2014/main" id="{D6D6788F-383F-F4D7-AD68-73C882354FD2}"/>
                </a:ext>
              </a:extLst>
            </p:cNvPr>
            <p:cNvGrpSpPr/>
            <p:nvPr/>
          </p:nvGrpSpPr>
          <p:grpSpPr>
            <a:xfrm>
              <a:off x="6406695" y="2655078"/>
              <a:ext cx="1956599" cy="1950319"/>
              <a:chOff x="7345306" y="3032507"/>
              <a:chExt cx="3299462" cy="3288873"/>
            </a:xfrm>
          </p:grpSpPr>
          <p:sp>
            <p:nvSpPr>
              <p:cNvPr id="75" name="矩形 211">
                <a:extLst>
                  <a:ext uri="{FF2B5EF4-FFF2-40B4-BE49-F238E27FC236}">
                    <a16:creationId xmlns:a16="http://schemas.microsoft.com/office/drawing/2014/main" id="{FB45AE8B-7A92-CA6C-2DBC-06A760E9C425}"/>
                  </a:ext>
                </a:extLst>
              </p:cNvPr>
              <p:cNvSpPr/>
              <p:nvPr/>
            </p:nvSpPr>
            <p:spPr>
              <a:xfrm>
                <a:off x="7345306" y="3032507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76" name="直接箭头连接符 212">
                <a:extLst>
                  <a:ext uri="{FF2B5EF4-FFF2-40B4-BE49-F238E27FC236}">
                    <a16:creationId xmlns:a16="http://schemas.microsoft.com/office/drawing/2014/main" id="{2055841A-FB3E-E2AA-E9AC-97EE364D3AC4}"/>
                  </a:ext>
                </a:extLst>
              </p:cNvPr>
              <p:cNvCxnSpPr>
                <a:cxnSpLocks/>
                <a:stCxn id="75" idx="3"/>
              </p:cNvCxnSpPr>
              <p:nvPr/>
            </p:nvCxnSpPr>
            <p:spPr>
              <a:xfrm>
                <a:off x="7613382" y="3167413"/>
                <a:ext cx="742386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箭头连接符 213">
                <a:extLst>
                  <a:ext uri="{FF2B5EF4-FFF2-40B4-BE49-F238E27FC236}">
                    <a16:creationId xmlns:a16="http://schemas.microsoft.com/office/drawing/2014/main" id="{827D6837-3E8D-69AD-A1A7-AF7156E67B94}"/>
                  </a:ext>
                </a:extLst>
              </p:cNvPr>
              <p:cNvCxnSpPr>
                <a:cxnSpLocks/>
                <a:stCxn id="75" idx="2"/>
              </p:cNvCxnSpPr>
              <p:nvPr/>
            </p:nvCxnSpPr>
            <p:spPr>
              <a:xfrm>
                <a:off x="7479344" y="3302318"/>
                <a:ext cx="0" cy="736543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矩形 214">
                <a:extLst>
                  <a:ext uri="{FF2B5EF4-FFF2-40B4-BE49-F238E27FC236}">
                    <a16:creationId xmlns:a16="http://schemas.microsoft.com/office/drawing/2014/main" id="{189D2D59-8EA8-54DA-1FF8-BB7BECF02608}"/>
                  </a:ext>
                </a:extLst>
              </p:cNvPr>
              <p:cNvSpPr/>
              <p:nvPr/>
            </p:nvSpPr>
            <p:spPr>
              <a:xfrm>
                <a:off x="8355768" y="3032507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79" name="直接箭头连接符 215">
                <a:extLst>
                  <a:ext uri="{FF2B5EF4-FFF2-40B4-BE49-F238E27FC236}">
                    <a16:creationId xmlns:a16="http://schemas.microsoft.com/office/drawing/2014/main" id="{866AA020-20AD-6062-36DC-5128A3F349B5}"/>
                  </a:ext>
                </a:extLst>
              </p:cNvPr>
              <p:cNvCxnSpPr>
                <a:cxnSpLocks/>
                <a:stCxn id="78" idx="3"/>
              </p:cNvCxnSpPr>
              <p:nvPr/>
            </p:nvCxnSpPr>
            <p:spPr>
              <a:xfrm>
                <a:off x="8623844" y="3167413"/>
                <a:ext cx="742386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箭头连接符 216">
                <a:extLst>
                  <a:ext uri="{FF2B5EF4-FFF2-40B4-BE49-F238E27FC236}">
                    <a16:creationId xmlns:a16="http://schemas.microsoft.com/office/drawing/2014/main" id="{2A779766-989D-D285-C9CA-3F288D7A44AB}"/>
                  </a:ext>
                </a:extLst>
              </p:cNvPr>
              <p:cNvCxnSpPr>
                <a:cxnSpLocks/>
                <a:stCxn id="78" idx="2"/>
              </p:cNvCxnSpPr>
              <p:nvPr/>
            </p:nvCxnSpPr>
            <p:spPr>
              <a:xfrm>
                <a:off x="8489806" y="3302318"/>
                <a:ext cx="0" cy="736543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矩形 217">
                <a:extLst>
                  <a:ext uri="{FF2B5EF4-FFF2-40B4-BE49-F238E27FC236}">
                    <a16:creationId xmlns:a16="http://schemas.microsoft.com/office/drawing/2014/main" id="{343C3A40-3FC3-CBFC-DF3D-73815166C8FF}"/>
                  </a:ext>
                </a:extLst>
              </p:cNvPr>
              <p:cNvSpPr/>
              <p:nvPr/>
            </p:nvSpPr>
            <p:spPr>
              <a:xfrm>
                <a:off x="9366230" y="3032507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82" name="直接箭头连接符 218">
                <a:extLst>
                  <a:ext uri="{FF2B5EF4-FFF2-40B4-BE49-F238E27FC236}">
                    <a16:creationId xmlns:a16="http://schemas.microsoft.com/office/drawing/2014/main" id="{01573F70-ECE0-F796-C6A0-845D203D177D}"/>
                  </a:ext>
                </a:extLst>
              </p:cNvPr>
              <p:cNvCxnSpPr>
                <a:cxnSpLocks/>
                <a:stCxn id="81" idx="3"/>
              </p:cNvCxnSpPr>
              <p:nvPr/>
            </p:nvCxnSpPr>
            <p:spPr>
              <a:xfrm>
                <a:off x="9634306" y="3167413"/>
                <a:ext cx="742386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箭头连接符 219">
                <a:extLst>
                  <a:ext uri="{FF2B5EF4-FFF2-40B4-BE49-F238E27FC236}">
                    <a16:creationId xmlns:a16="http://schemas.microsoft.com/office/drawing/2014/main" id="{4F89E33F-BE9C-D8BC-5075-C8610B6E6866}"/>
                  </a:ext>
                </a:extLst>
              </p:cNvPr>
              <p:cNvCxnSpPr>
                <a:cxnSpLocks/>
                <a:stCxn id="81" idx="2"/>
              </p:cNvCxnSpPr>
              <p:nvPr/>
            </p:nvCxnSpPr>
            <p:spPr>
              <a:xfrm>
                <a:off x="9500268" y="3302318"/>
                <a:ext cx="0" cy="736543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矩形 220">
                <a:extLst>
                  <a:ext uri="{FF2B5EF4-FFF2-40B4-BE49-F238E27FC236}">
                    <a16:creationId xmlns:a16="http://schemas.microsoft.com/office/drawing/2014/main" id="{7D5BF835-6ECE-4543-7FC0-B7284257E1EF}"/>
                  </a:ext>
                </a:extLst>
              </p:cNvPr>
              <p:cNvSpPr/>
              <p:nvPr/>
            </p:nvSpPr>
            <p:spPr>
              <a:xfrm>
                <a:off x="10376692" y="3032507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85" name="直接箭头连接符 221">
                <a:extLst>
                  <a:ext uri="{FF2B5EF4-FFF2-40B4-BE49-F238E27FC236}">
                    <a16:creationId xmlns:a16="http://schemas.microsoft.com/office/drawing/2014/main" id="{B70A6524-6084-821D-BCE7-55456625F714}"/>
                  </a:ext>
                </a:extLst>
              </p:cNvPr>
              <p:cNvCxnSpPr>
                <a:cxnSpLocks/>
                <a:stCxn id="84" idx="2"/>
              </p:cNvCxnSpPr>
              <p:nvPr/>
            </p:nvCxnSpPr>
            <p:spPr>
              <a:xfrm>
                <a:off x="10510730" y="3302318"/>
                <a:ext cx="0" cy="736543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矩形 222">
                <a:extLst>
                  <a:ext uri="{FF2B5EF4-FFF2-40B4-BE49-F238E27FC236}">
                    <a16:creationId xmlns:a16="http://schemas.microsoft.com/office/drawing/2014/main" id="{ADED5A47-000E-81D4-244C-D6D37A4C8FE7}"/>
                  </a:ext>
                </a:extLst>
              </p:cNvPr>
              <p:cNvSpPr/>
              <p:nvPr/>
            </p:nvSpPr>
            <p:spPr>
              <a:xfrm>
                <a:off x="7345306" y="4038861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87" name="直接箭头连接符 223">
                <a:extLst>
                  <a:ext uri="{FF2B5EF4-FFF2-40B4-BE49-F238E27FC236}">
                    <a16:creationId xmlns:a16="http://schemas.microsoft.com/office/drawing/2014/main" id="{70237CC7-4C59-6CD7-5B78-33C6E6A3C29A}"/>
                  </a:ext>
                </a:extLst>
              </p:cNvPr>
              <p:cNvCxnSpPr>
                <a:cxnSpLocks/>
                <a:stCxn id="86" idx="3"/>
              </p:cNvCxnSpPr>
              <p:nvPr/>
            </p:nvCxnSpPr>
            <p:spPr>
              <a:xfrm>
                <a:off x="7613382" y="4173767"/>
                <a:ext cx="742386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箭头连接符 224">
                <a:extLst>
                  <a:ext uri="{FF2B5EF4-FFF2-40B4-BE49-F238E27FC236}">
                    <a16:creationId xmlns:a16="http://schemas.microsoft.com/office/drawing/2014/main" id="{02A605C1-A924-6717-D861-7447E34BBE7D}"/>
                  </a:ext>
                </a:extLst>
              </p:cNvPr>
              <p:cNvCxnSpPr>
                <a:cxnSpLocks/>
                <a:stCxn id="86" idx="2"/>
              </p:cNvCxnSpPr>
              <p:nvPr/>
            </p:nvCxnSpPr>
            <p:spPr>
              <a:xfrm>
                <a:off x="7479344" y="4308672"/>
                <a:ext cx="0" cy="736543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矩形 225">
                <a:extLst>
                  <a:ext uri="{FF2B5EF4-FFF2-40B4-BE49-F238E27FC236}">
                    <a16:creationId xmlns:a16="http://schemas.microsoft.com/office/drawing/2014/main" id="{9A5A33D8-CA3C-57F5-C14C-E56454FA9E63}"/>
                  </a:ext>
                </a:extLst>
              </p:cNvPr>
              <p:cNvSpPr/>
              <p:nvPr/>
            </p:nvSpPr>
            <p:spPr>
              <a:xfrm>
                <a:off x="8355768" y="4038861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90" name="直接箭头连接符 226">
                <a:extLst>
                  <a:ext uri="{FF2B5EF4-FFF2-40B4-BE49-F238E27FC236}">
                    <a16:creationId xmlns:a16="http://schemas.microsoft.com/office/drawing/2014/main" id="{EF28015C-CC91-6FB5-5CC2-C3731ADB0EA5}"/>
                  </a:ext>
                </a:extLst>
              </p:cNvPr>
              <p:cNvCxnSpPr>
                <a:cxnSpLocks/>
                <a:stCxn id="89" idx="3"/>
              </p:cNvCxnSpPr>
              <p:nvPr/>
            </p:nvCxnSpPr>
            <p:spPr>
              <a:xfrm>
                <a:off x="8623844" y="4173767"/>
                <a:ext cx="742386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箭头连接符 227">
                <a:extLst>
                  <a:ext uri="{FF2B5EF4-FFF2-40B4-BE49-F238E27FC236}">
                    <a16:creationId xmlns:a16="http://schemas.microsoft.com/office/drawing/2014/main" id="{9E40D767-CC53-F199-88AB-D51DDDD887C7}"/>
                  </a:ext>
                </a:extLst>
              </p:cNvPr>
              <p:cNvCxnSpPr>
                <a:cxnSpLocks/>
                <a:stCxn id="89" idx="2"/>
              </p:cNvCxnSpPr>
              <p:nvPr/>
            </p:nvCxnSpPr>
            <p:spPr>
              <a:xfrm>
                <a:off x="8489806" y="4308672"/>
                <a:ext cx="0" cy="736543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矩形 228">
                <a:extLst>
                  <a:ext uri="{FF2B5EF4-FFF2-40B4-BE49-F238E27FC236}">
                    <a16:creationId xmlns:a16="http://schemas.microsoft.com/office/drawing/2014/main" id="{50B0FA8C-66FA-5569-AE76-983BA48E7500}"/>
                  </a:ext>
                </a:extLst>
              </p:cNvPr>
              <p:cNvSpPr/>
              <p:nvPr/>
            </p:nvSpPr>
            <p:spPr>
              <a:xfrm>
                <a:off x="9366230" y="4038861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93" name="直接箭头连接符 229">
                <a:extLst>
                  <a:ext uri="{FF2B5EF4-FFF2-40B4-BE49-F238E27FC236}">
                    <a16:creationId xmlns:a16="http://schemas.microsoft.com/office/drawing/2014/main" id="{76322141-4F22-A8EE-05C1-B514AA10DAE8}"/>
                  </a:ext>
                </a:extLst>
              </p:cNvPr>
              <p:cNvCxnSpPr>
                <a:cxnSpLocks/>
                <a:stCxn id="92" idx="3"/>
              </p:cNvCxnSpPr>
              <p:nvPr/>
            </p:nvCxnSpPr>
            <p:spPr>
              <a:xfrm>
                <a:off x="9634306" y="4173767"/>
                <a:ext cx="742386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箭头连接符 230">
                <a:extLst>
                  <a:ext uri="{FF2B5EF4-FFF2-40B4-BE49-F238E27FC236}">
                    <a16:creationId xmlns:a16="http://schemas.microsoft.com/office/drawing/2014/main" id="{23B1A2EA-50D5-3C0B-F83E-D9A3418A9BD4}"/>
                  </a:ext>
                </a:extLst>
              </p:cNvPr>
              <p:cNvCxnSpPr>
                <a:cxnSpLocks/>
                <a:stCxn id="92" idx="2"/>
              </p:cNvCxnSpPr>
              <p:nvPr/>
            </p:nvCxnSpPr>
            <p:spPr>
              <a:xfrm>
                <a:off x="9500268" y="4308672"/>
                <a:ext cx="0" cy="736543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矩形 231">
                <a:extLst>
                  <a:ext uri="{FF2B5EF4-FFF2-40B4-BE49-F238E27FC236}">
                    <a16:creationId xmlns:a16="http://schemas.microsoft.com/office/drawing/2014/main" id="{6290D2DA-CD94-8244-1974-174EC4555FED}"/>
                  </a:ext>
                </a:extLst>
              </p:cNvPr>
              <p:cNvSpPr/>
              <p:nvPr/>
            </p:nvSpPr>
            <p:spPr>
              <a:xfrm>
                <a:off x="10376692" y="4038861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96" name="直接箭头连接符 232">
                <a:extLst>
                  <a:ext uri="{FF2B5EF4-FFF2-40B4-BE49-F238E27FC236}">
                    <a16:creationId xmlns:a16="http://schemas.microsoft.com/office/drawing/2014/main" id="{85871438-6600-1C54-3D09-EE0EE4439435}"/>
                  </a:ext>
                </a:extLst>
              </p:cNvPr>
              <p:cNvCxnSpPr>
                <a:cxnSpLocks/>
                <a:stCxn id="95" idx="2"/>
              </p:cNvCxnSpPr>
              <p:nvPr/>
            </p:nvCxnSpPr>
            <p:spPr>
              <a:xfrm>
                <a:off x="10510730" y="4308672"/>
                <a:ext cx="0" cy="736543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矩形 233">
                <a:extLst>
                  <a:ext uri="{FF2B5EF4-FFF2-40B4-BE49-F238E27FC236}">
                    <a16:creationId xmlns:a16="http://schemas.microsoft.com/office/drawing/2014/main" id="{5668C71A-35F5-BE03-2A2A-319A46378AAF}"/>
                  </a:ext>
                </a:extLst>
              </p:cNvPr>
              <p:cNvSpPr/>
              <p:nvPr/>
            </p:nvSpPr>
            <p:spPr>
              <a:xfrm>
                <a:off x="7345306" y="5045215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98" name="直接箭头连接符 234">
                <a:extLst>
                  <a:ext uri="{FF2B5EF4-FFF2-40B4-BE49-F238E27FC236}">
                    <a16:creationId xmlns:a16="http://schemas.microsoft.com/office/drawing/2014/main" id="{5554345F-CEE4-0C22-18E4-76B9335D2FFA}"/>
                  </a:ext>
                </a:extLst>
              </p:cNvPr>
              <p:cNvCxnSpPr>
                <a:cxnSpLocks/>
                <a:stCxn id="97" idx="3"/>
              </p:cNvCxnSpPr>
              <p:nvPr/>
            </p:nvCxnSpPr>
            <p:spPr>
              <a:xfrm>
                <a:off x="7613382" y="5180121"/>
                <a:ext cx="742386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箭头连接符 235">
                <a:extLst>
                  <a:ext uri="{FF2B5EF4-FFF2-40B4-BE49-F238E27FC236}">
                    <a16:creationId xmlns:a16="http://schemas.microsoft.com/office/drawing/2014/main" id="{2AC71A64-DB88-6C7C-60A8-3B561E2CCBAA}"/>
                  </a:ext>
                </a:extLst>
              </p:cNvPr>
              <p:cNvCxnSpPr>
                <a:cxnSpLocks/>
                <a:stCxn id="97" idx="2"/>
              </p:cNvCxnSpPr>
              <p:nvPr/>
            </p:nvCxnSpPr>
            <p:spPr>
              <a:xfrm>
                <a:off x="7479344" y="5315026"/>
                <a:ext cx="0" cy="736543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矩形 236">
                <a:extLst>
                  <a:ext uri="{FF2B5EF4-FFF2-40B4-BE49-F238E27FC236}">
                    <a16:creationId xmlns:a16="http://schemas.microsoft.com/office/drawing/2014/main" id="{0275ABE3-E1BF-8952-321C-89A599103B15}"/>
                  </a:ext>
                </a:extLst>
              </p:cNvPr>
              <p:cNvSpPr/>
              <p:nvPr/>
            </p:nvSpPr>
            <p:spPr>
              <a:xfrm>
                <a:off x="8355768" y="5045215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101" name="直接箭头连接符 237">
                <a:extLst>
                  <a:ext uri="{FF2B5EF4-FFF2-40B4-BE49-F238E27FC236}">
                    <a16:creationId xmlns:a16="http://schemas.microsoft.com/office/drawing/2014/main" id="{82B5EC77-3E17-F054-63BE-C88CD4EB29E4}"/>
                  </a:ext>
                </a:extLst>
              </p:cNvPr>
              <p:cNvCxnSpPr>
                <a:cxnSpLocks/>
                <a:stCxn id="100" idx="3"/>
              </p:cNvCxnSpPr>
              <p:nvPr/>
            </p:nvCxnSpPr>
            <p:spPr>
              <a:xfrm>
                <a:off x="8623844" y="5180121"/>
                <a:ext cx="742386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箭头连接符 238">
                <a:extLst>
                  <a:ext uri="{FF2B5EF4-FFF2-40B4-BE49-F238E27FC236}">
                    <a16:creationId xmlns:a16="http://schemas.microsoft.com/office/drawing/2014/main" id="{34B61D16-5AA3-855B-29C9-AB10E179FBEE}"/>
                  </a:ext>
                </a:extLst>
              </p:cNvPr>
              <p:cNvCxnSpPr>
                <a:cxnSpLocks/>
                <a:stCxn id="100" idx="2"/>
              </p:cNvCxnSpPr>
              <p:nvPr/>
            </p:nvCxnSpPr>
            <p:spPr>
              <a:xfrm>
                <a:off x="8489806" y="5315026"/>
                <a:ext cx="0" cy="736543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矩形 239">
                <a:extLst>
                  <a:ext uri="{FF2B5EF4-FFF2-40B4-BE49-F238E27FC236}">
                    <a16:creationId xmlns:a16="http://schemas.microsoft.com/office/drawing/2014/main" id="{B75C83B2-094F-308E-BB63-DAE714E39A3A}"/>
                  </a:ext>
                </a:extLst>
              </p:cNvPr>
              <p:cNvSpPr/>
              <p:nvPr/>
            </p:nvSpPr>
            <p:spPr>
              <a:xfrm>
                <a:off x="9366230" y="5045215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104" name="直接箭头连接符 240">
                <a:extLst>
                  <a:ext uri="{FF2B5EF4-FFF2-40B4-BE49-F238E27FC236}">
                    <a16:creationId xmlns:a16="http://schemas.microsoft.com/office/drawing/2014/main" id="{F7FA149C-0409-6D3F-8A9E-BDC5A55657D5}"/>
                  </a:ext>
                </a:extLst>
              </p:cNvPr>
              <p:cNvCxnSpPr>
                <a:cxnSpLocks/>
                <a:stCxn id="103" idx="3"/>
              </p:cNvCxnSpPr>
              <p:nvPr/>
            </p:nvCxnSpPr>
            <p:spPr>
              <a:xfrm>
                <a:off x="9634306" y="5180121"/>
                <a:ext cx="742386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箭头连接符 241">
                <a:extLst>
                  <a:ext uri="{FF2B5EF4-FFF2-40B4-BE49-F238E27FC236}">
                    <a16:creationId xmlns:a16="http://schemas.microsoft.com/office/drawing/2014/main" id="{7E3DD14D-9D2F-F228-6ED2-8E26A1786E39}"/>
                  </a:ext>
                </a:extLst>
              </p:cNvPr>
              <p:cNvCxnSpPr>
                <a:cxnSpLocks/>
                <a:stCxn id="103" idx="2"/>
              </p:cNvCxnSpPr>
              <p:nvPr/>
            </p:nvCxnSpPr>
            <p:spPr>
              <a:xfrm>
                <a:off x="9500268" y="5315026"/>
                <a:ext cx="0" cy="736543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矩形 242">
                <a:extLst>
                  <a:ext uri="{FF2B5EF4-FFF2-40B4-BE49-F238E27FC236}">
                    <a16:creationId xmlns:a16="http://schemas.microsoft.com/office/drawing/2014/main" id="{D542AF75-ED9F-FD46-48AD-89CCFDE14F6E}"/>
                  </a:ext>
                </a:extLst>
              </p:cNvPr>
              <p:cNvSpPr/>
              <p:nvPr/>
            </p:nvSpPr>
            <p:spPr>
              <a:xfrm>
                <a:off x="10376692" y="5045215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107" name="直接箭头连接符 243">
                <a:extLst>
                  <a:ext uri="{FF2B5EF4-FFF2-40B4-BE49-F238E27FC236}">
                    <a16:creationId xmlns:a16="http://schemas.microsoft.com/office/drawing/2014/main" id="{12EBC81D-C05C-E838-9B62-0C098F5E2AE9}"/>
                  </a:ext>
                </a:extLst>
              </p:cNvPr>
              <p:cNvCxnSpPr>
                <a:cxnSpLocks/>
                <a:stCxn id="106" idx="2"/>
              </p:cNvCxnSpPr>
              <p:nvPr/>
            </p:nvCxnSpPr>
            <p:spPr>
              <a:xfrm>
                <a:off x="10510730" y="5315026"/>
                <a:ext cx="0" cy="736543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矩形 244">
                <a:extLst>
                  <a:ext uri="{FF2B5EF4-FFF2-40B4-BE49-F238E27FC236}">
                    <a16:creationId xmlns:a16="http://schemas.microsoft.com/office/drawing/2014/main" id="{2681DB49-4DCB-48C3-E5E9-A72E6F8FA051}"/>
                  </a:ext>
                </a:extLst>
              </p:cNvPr>
              <p:cNvSpPr/>
              <p:nvPr/>
            </p:nvSpPr>
            <p:spPr>
              <a:xfrm>
                <a:off x="7345306" y="6051569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109" name="直接箭头连接符 245">
                <a:extLst>
                  <a:ext uri="{FF2B5EF4-FFF2-40B4-BE49-F238E27FC236}">
                    <a16:creationId xmlns:a16="http://schemas.microsoft.com/office/drawing/2014/main" id="{C0782F89-7B88-C819-6BE3-3044DA01D5D5}"/>
                  </a:ext>
                </a:extLst>
              </p:cNvPr>
              <p:cNvCxnSpPr>
                <a:cxnSpLocks/>
                <a:stCxn id="108" idx="3"/>
              </p:cNvCxnSpPr>
              <p:nvPr/>
            </p:nvCxnSpPr>
            <p:spPr>
              <a:xfrm>
                <a:off x="7613382" y="6186475"/>
                <a:ext cx="742386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矩形 246">
                <a:extLst>
                  <a:ext uri="{FF2B5EF4-FFF2-40B4-BE49-F238E27FC236}">
                    <a16:creationId xmlns:a16="http://schemas.microsoft.com/office/drawing/2014/main" id="{573B34CD-EE57-DF30-F1E1-0834E0946421}"/>
                  </a:ext>
                </a:extLst>
              </p:cNvPr>
              <p:cNvSpPr/>
              <p:nvPr/>
            </p:nvSpPr>
            <p:spPr>
              <a:xfrm>
                <a:off x="8355768" y="6051569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111" name="直接箭头连接符 247">
                <a:extLst>
                  <a:ext uri="{FF2B5EF4-FFF2-40B4-BE49-F238E27FC236}">
                    <a16:creationId xmlns:a16="http://schemas.microsoft.com/office/drawing/2014/main" id="{6B65024F-D005-F4DA-EEDC-57B38A07A4B0}"/>
                  </a:ext>
                </a:extLst>
              </p:cNvPr>
              <p:cNvCxnSpPr>
                <a:cxnSpLocks/>
                <a:stCxn id="110" idx="3"/>
              </p:cNvCxnSpPr>
              <p:nvPr/>
            </p:nvCxnSpPr>
            <p:spPr>
              <a:xfrm>
                <a:off x="8623844" y="6186475"/>
                <a:ext cx="742386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矩形 248">
                <a:extLst>
                  <a:ext uri="{FF2B5EF4-FFF2-40B4-BE49-F238E27FC236}">
                    <a16:creationId xmlns:a16="http://schemas.microsoft.com/office/drawing/2014/main" id="{FFB153C6-D069-275E-95BE-BFA72A628CC5}"/>
                  </a:ext>
                </a:extLst>
              </p:cNvPr>
              <p:cNvSpPr/>
              <p:nvPr/>
            </p:nvSpPr>
            <p:spPr>
              <a:xfrm>
                <a:off x="9366230" y="6051569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  <p:cxnSp>
            <p:nvCxnSpPr>
              <p:cNvPr id="113" name="直接箭头连接符 249">
                <a:extLst>
                  <a:ext uri="{FF2B5EF4-FFF2-40B4-BE49-F238E27FC236}">
                    <a16:creationId xmlns:a16="http://schemas.microsoft.com/office/drawing/2014/main" id="{A34FBF36-6EA8-A4BF-24C9-6000ECCE83FE}"/>
                  </a:ext>
                </a:extLst>
              </p:cNvPr>
              <p:cNvCxnSpPr>
                <a:cxnSpLocks/>
                <a:stCxn id="112" idx="3"/>
              </p:cNvCxnSpPr>
              <p:nvPr/>
            </p:nvCxnSpPr>
            <p:spPr>
              <a:xfrm>
                <a:off x="9634306" y="6186475"/>
                <a:ext cx="742386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矩形 250">
                <a:extLst>
                  <a:ext uri="{FF2B5EF4-FFF2-40B4-BE49-F238E27FC236}">
                    <a16:creationId xmlns:a16="http://schemas.microsoft.com/office/drawing/2014/main" id="{FA6F4F10-9CFB-BDC6-C709-16B5A9D94B46}"/>
                  </a:ext>
                </a:extLst>
              </p:cNvPr>
              <p:cNvSpPr/>
              <p:nvPr/>
            </p:nvSpPr>
            <p:spPr>
              <a:xfrm>
                <a:off x="10376692" y="6051569"/>
                <a:ext cx="268076" cy="269811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i="0" cap="none" spc="0" dirty="0">
                    <a:ln>
                      <a:noFill/>
                    </a:ln>
                    <a:solidFill>
                      <a:schemeClr val="bg2"/>
                    </a:solidFill>
                    <a:effectLst/>
                    <a:latin typeface="Arial Narrow" panose="020B0604020202020204" pitchFamily="34" charset="0"/>
                    <a:cs typeface="Arial Narrow" panose="020B0604020202020204" pitchFamily="34" charset="0"/>
                  </a:rPr>
                  <a:t>R</a:t>
                </a:r>
                <a:endParaRPr lang="zh-CN" altLang="en-US" sz="1200" b="1" i="0" cap="none" spc="0" baseline="-25000" dirty="0">
                  <a:ln>
                    <a:noFill/>
                  </a:ln>
                  <a:solidFill>
                    <a:schemeClr val="bg2"/>
                  </a:solidFill>
                  <a:effectLst/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</p:txBody>
          </p:sp>
        </p:grpSp>
        <p:cxnSp>
          <p:nvCxnSpPr>
            <p:cNvPr id="30" name="直接箭头连接符 146">
              <a:extLst>
                <a:ext uri="{FF2B5EF4-FFF2-40B4-BE49-F238E27FC236}">
                  <a16:creationId xmlns:a16="http://schemas.microsoft.com/office/drawing/2014/main" id="{AF553F2A-B409-8A8D-5AE2-8FD7F32E83E8}"/>
                </a:ext>
              </a:extLst>
            </p:cNvPr>
            <p:cNvCxnSpPr>
              <a:cxnSpLocks/>
            </p:cNvCxnSpPr>
            <p:nvPr/>
          </p:nvCxnSpPr>
          <p:spPr>
            <a:xfrm>
              <a:off x="8363294" y="3318249"/>
              <a:ext cx="440239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147">
              <a:extLst>
                <a:ext uri="{FF2B5EF4-FFF2-40B4-BE49-F238E27FC236}">
                  <a16:creationId xmlns:a16="http://schemas.microsoft.com/office/drawing/2014/main" id="{44E90485-0BFE-8660-0E85-34FD30DC3D6B}"/>
                </a:ext>
              </a:extLst>
            </p:cNvPr>
            <p:cNvCxnSpPr>
              <a:cxnSpLocks/>
            </p:cNvCxnSpPr>
            <p:nvPr/>
          </p:nvCxnSpPr>
          <p:spPr>
            <a:xfrm>
              <a:off x="8363294" y="3928624"/>
              <a:ext cx="440239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148">
              <a:extLst>
                <a:ext uri="{FF2B5EF4-FFF2-40B4-BE49-F238E27FC236}">
                  <a16:creationId xmlns:a16="http://schemas.microsoft.com/office/drawing/2014/main" id="{1186E0BF-5B06-D37C-5B58-1B2A17C69834}"/>
                </a:ext>
              </a:extLst>
            </p:cNvPr>
            <p:cNvCxnSpPr>
              <a:cxnSpLocks/>
            </p:cNvCxnSpPr>
            <p:nvPr/>
          </p:nvCxnSpPr>
          <p:spPr>
            <a:xfrm>
              <a:off x="8363294" y="4519801"/>
              <a:ext cx="440239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149">
              <a:extLst>
                <a:ext uri="{FF2B5EF4-FFF2-40B4-BE49-F238E27FC236}">
                  <a16:creationId xmlns:a16="http://schemas.microsoft.com/office/drawing/2014/main" id="{9E5D7339-75D4-1886-4527-681091D53BEF}"/>
                </a:ext>
              </a:extLst>
            </p:cNvPr>
            <p:cNvCxnSpPr>
              <a:cxnSpLocks/>
            </p:cNvCxnSpPr>
            <p:nvPr/>
          </p:nvCxnSpPr>
          <p:spPr>
            <a:xfrm>
              <a:off x="6494440" y="4631627"/>
              <a:ext cx="0" cy="570615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150">
              <a:extLst>
                <a:ext uri="{FF2B5EF4-FFF2-40B4-BE49-F238E27FC236}">
                  <a16:creationId xmlns:a16="http://schemas.microsoft.com/office/drawing/2014/main" id="{D88EC0D9-380F-E4EE-744A-1B7079299200}"/>
                </a:ext>
              </a:extLst>
            </p:cNvPr>
            <p:cNvCxnSpPr>
              <a:cxnSpLocks/>
            </p:cNvCxnSpPr>
            <p:nvPr/>
          </p:nvCxnSpPr>
          <p:spPr>
            <a:xfrm>
              <a:off x="7091807" y="4631627"/>
              <a:ext cx="0" cy="570615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151">
              <a:extLst>
                <a:ext uri="{FF2B5EF4-FFF2-40B4-BE49-F238E27FC236}">
                  <a16:creationId xmlns:a16="http://schemas.microsoft.com/office/drawing/2014/main" id="{D63A3DEA-0347-1BFA-7B92-54738E8E5B7B}"/>
                </a:ext>
              </a:extLst>
            </p:cNvPr>
            <p:cNvCxnSpPr>
              <a:cxnSpLocks/>
            </p:cNvCxnSpPr>
            <p:nvPr/>
          </p:nvCxnSpPr>
          <p:spPr>
            <a:xfrm>
              <a:off x="7689175" y="4631627"/>
              <a:ext cx="0" cy="570615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152">
              <a:extLst>
                <a:ext uri="{FF2B5EF4-FFF2-40B4-BE49-F238E27FC236}">
                  <a16:creationId xmlns:a16="http://schemas.microsoft.com/office/drawing/2014/main" id="{F2B25560-EF21-63B6-B0A1-4F0A8266CA62}"/>
                </a:ext>
              </a:extLst>
            </p:cNvPr>
            <p:cNvCxnSpPr>
              <a:cxnSpLocks/>
            </p:cNvCxnSpPr>
            <p:nvPr/>
          </p:nvCxnSpPr>
          <p:spPr>
            <a:xfrm>
              <a:off x="8286542" y="4631627"/>
              <a:ext cx="0" cy="570615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153">
              <a:extLst>
                <a:ext uri="{FF2B5EF4-FFF2-40B4-BE49-F238E27FC236}">
                  <a16:creationId xmlns:a16="http://schemas.microsoft.com/office/drawing/2014/main" id="{3212ECB0-2C11-C162-2339-961DD36D6ED4}"/>
                </a:ext>
              </a:extLst>
            </p:cNvPr>
            <p:cNvCxnSpPr>
              <a:cxnSpLocks/>
            </p:cNvCxnSpPr>
            <p:nvPr/>
          </p:nvCxnSpPr>
          <p:spPr>
            <a:xfrm>
              <a:off x="8363294" y="2735077"/>
              <a:ext cx="440239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154">
              <a:extLst>
                <a:ext uri="{FF2B5EF4-FFF2-40B4-BE49-F238E27FC236}">
                  <a16:creationId xmlns:a16="http://schemas.microsoft.com/office/drawing/2014/main" id="{EE0A5089-736D-9F9D-BD74-4C15F59C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493587" y="2456930"/>
              <a:ext cx="0" cy="235088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155">
              <a:extLst>
                <a:ext uri="{FF2B5EF4-FFF2-40B4-BE49-F238E27FC236}">
                  <a16:creationId xmlns:a16="http://schemas.microsoft.com/office/drawing/2014/main" id="{8D51B0FB-3C3B-D485-7EC0-F97429D7715A}"/>
                </a:ext>
              </a:extLst>
            </p:cNvPr>
            <p:cNvCxnSpPr>
              <a:cxnSpLocks/>
            </p:cNvCxnSpPr>
            <p:nvPr/>
          </p:nvCxnSpPr>
          <p:spPr>
            <a:xfrm>
              <a:off x="7090954" y="2456930"/>
              <a:ext cx="0" cy="235088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156">
              <a:extLst>
                <a:ext uri="{FF2B5EF4-FFF2-40B4-BE49-F238E27FC236}">
                  <a16:creationId xmlns:a16="http://schemas.microsoft.com/office/drawing/2014/main" id="{63503344-40D0-92A5-5AB8-8C59AB95C306}"/>
                </a:ext>
              </a:extLst>
            </p:cNvPr>
            <p:cNvCxnSpPr>
              <a:cxnSpLocks/>
            </p:cNvCxnSpPr>
            <p:nvPr/>
          </p:nvCxnSpPr>
          <p:spPr>
            <a:xfrm>
              <a:off x="7688322" y="2456930"/>
              <a:ext cx="0" cy="235088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157">
              <a:extLst>
                <a:ext uri="{FF2B5EF4-FFF2-40B4-BE49-F238E27FC236}">
                  <a16:creationId xmlns:a16="http://schemas.microsoft.com/office/drawing/2014/main" id="{3B1484F5-4361-F1BF-A6BF-2A872ABC6903}"/>
                </a:ext>
              </a:extLst>
            </p:cNvPr>
            <p:cNvCxnSpPr>
              <a:cxnSpLocks/>
            </p:cNvCxnSpPr>
            <p:nvPr/>
          </p:nvCxnSpPr>
          <p:spPr>
            <a:xfrm>
              <a:off x="8285689" y="2456930"/>
              <a:ext cx="0" cy="235088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组合 158">
              <a:extLst>
                <a:ext uri="{FF2B5EF4-FFF2-40B4-BE49-F238E27FC236}">
                  <a16:creationId xmlns:a16="http://schemas.microsoft.com/office/drawing/2014/main" id="{703379D4-1B5E-B5CB-C774-8140E9694E5F}"/>
                </a:ext>
              </a:extLst>
            </p:cNvPr>
            <p:cNvGrpSpPr/>
            <p:nvPr/>
          </p:nvGrpSpPr>
          <p:grpSpPr>
            <a:xfrm rot="16200000">
              <a:off x="5379767" y="3506205"/>
              <a:ext cx="1792104" cy="235088"/>
              <a:chOff x="7753216" y="2427597"/>
              <a:chExt cx="1939182" cy="254382"/>
            </a:xfrm>
          </p:grpSpPr>
          <p:cxnSp>
            <p:nvCxnSpPr>
              <p:cNvPr id="71" name="直接箭头连接符 207">
                <a:extLst>
                  <a:ext uri="{FF2B5EF4-FFF2-40B4-BE49-F238E27FC236}">
                    <a16:creationId xmlns:a16="http://schemas.microsoft.com/office/drawing/2014/main" id="{299160C6-8A7E-DA16-2C44-2AE68EEE2D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3216" y="2427597"/>
                <a:ext cx="0" cy="254382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208">
                <a:extLst>
                  <a:ext uri="{FF2B5EF4-FFF2-40B4-BE49-F238E27FC236}">
                    <a16:creationId xmlns:a16="http://schemas.microsoft.com/office/drawing/2014/main" id="{9F036193-2220-0087-C673-120AA4313A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99609" y="2427597"/>
                <a:ext cx="0" cy="254382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箭头连接符 209">
                <a:extLst>
                  <a:ext uri="{FF2B5EF4-FFF2-40B4-BE49-F238E27FC236}">
                    <a16:creationId xmlns:a16="http://schemas.microsoft.com/office/drawing/2014/main" id="{45ECAA81-0E1D-EF10-C967-D2F1FB662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46002" y="2427597"/>
                <a:ext cx="0" cy="254382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箭头连接符 210">
                <a:extLst>
                  <a:ext uri="{FF2B5EF4-FFF2-40B4-BE49-F238E27FC236}">
                    <a16:creationId xmlns:a16="http://schemas.microsoft.com/office/drawing/2014/main" id="{6156CD19-F6DE-C5BB-9AE1-E6AA3E10DA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2398" y="2427597"/>
                <a:ext cx="0" cy="254382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箭头连接符 159">
              <a:extLst>
                <a:ext uri="{FF2B5EF4-FFF2-40B4-BE49-F238E27FC236}">
                  <a16:creationId xmlns:a16="http://schemas.microsoft.com/office/drawing/2014/main" id="{8F12C4E8-C427-51EB-249E-2990794D5C68}"/>
                </a:ext>
              </a:extLst>
            </p:cNvPr>
            <p:cNvCxnSpPr>
              <a:cxnSpLocks/>
            </p:cNvCxnSpPr>
            <p:nvPr/>
          </p:nvCxnSpPr>
          <p:spPr>
            <a:xfrm>
              <a:off x="6565665" y="2674928"/>
              <a:ext cx="440239" cy="0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160">
              <a:extLst>
                <a:ext uri="{FF2B5EF4-FFF2-40B4-BE49-F238E27FC236}">
                  <a16:creationId xmlns:a16="http://schemas.microsoft.com/office/drawing/2014/main" id="{90C8D47E-C69E-5153-7EE7-2CE63834D1FD}"/>
                </a:ext>
              </a:extLst>
            </p:cNvPr>
            <p:cNvCxnSpPr>
              <a:cxnSpLocks/>
            </p:cNvCxnSpPr>
            <p:nvPr/>
          </p:nvCxnSpPr>
          <p:spPr>
            <a:xfrm>
              <a:off x="6563170" y="3280838"/>
              <a:ext cx="440239" cy="0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161">
              <a:extLst>
                <a:ext uri="{FF2B5EF4-FFF2-40B4-BE49-F238E27FC236}">
                  <a16:creationId xmlns:a16="http://schemas.microsoft.com/office/drawing/2014/main" id="{8F956780-7C56-E8BE-B8DD-EB82A09446C0}"/>
                </a:ext>
              </a:extLst>
            </p:cNvPr>
            <p:cNvCxnSpPr>
              <a:cxnSpLocks/>
            </p:cNvCxnSpPr>
            <p:nvPr/>
          </p:nvCxnSpPr>
          <p:spPr>
            <a:xfrm>
              <a:off x="6560674" y="3886748"/>
              <a:ext cx="440239" cy="0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162">
              <a:extLst>
                <a:ext uri="{FF2B5EF4-FFF2-40B4-BE49-F238E27FC236}">
                  <a16:creationId xmlns:a16="http://schemas.microsoft.com/office/drawing/2014/main" id="{3E1761EC-16AD-B4B7-6807-EE26AC0D35BC}"/>
                </a:ext>
              </a:extLst>
            </p:cNvPr>
            <p:cNvCxnSpPr>
              <a:cxnSpLocks/>
            </p:cNvCxnSpPr>
            <p:nvPr/>
          </p:nvCxnSpPr>
          <p:spPr>
            <a:xfrm>
              <a:off x="6558179" y="4492658"/>
              <a:ext cx="440239" cy="0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163">
              <a:extLst>
                <a:ext uri="{FF2B5EF4-FFF2-40B4-BE49-F238E27FC236}">
                  <a16:creationId xmlns:a16="http://schemas.microsoft.com/office/drawing/2014/main" id="{92E05256-F7AA-AF43-88AA-6925C1D60FCC}"/>
                </a:ext>
              </a:extLst>
            </p:cNvPr>
            <p:cNvCxnSpPr>
              <a:cxnSpLocks/>
            </p:cNvCxnSpPr>
            <p:nvPr/>
          </p:nvCxnSpPr>
          <p:spPr>
            <a:xfrm>
              <a:off x="7164875" y="2674928"/>
              <a:ext cx="440239" cy="0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164">
              <a:extLst>
                <a:ext uri="{FF2B5EF4-FFF2-40B4-BE49-F238E27FC236}">
                  <a16:creationId xmlns:a16="http://schemas.microsoft.com/office/drawing/2014/main" id="{82182951-F346-D1A2-0EF5-68DDE74A46B7}"/>
                </a:ext>
              </a:extLst>
            </p:cNvPr>
            <p:cNvCxnSpPr>
              <a:cxnSpLocks/>
            </p:cNvCxnSpPr>
            <p:nvPr/>
          </p:nvCxnSpPr>
          <p:spPr>
            <a:xfrm>
              <a:off x="7162380" y="3280838"/>
              <a:ext cx="440239" cy="0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165">
              <a:extLst>
                <a:ext uri="{FF2B5EF4-FFF2-40B4-BE49-F238E27FC236}">
                  <a16:creationId xmlns:a16="http://schemas.microsoft.com/office/drawing/2014/main" id="{BCA140FB-4DC9-7DD6-B26C-5650FC875624}"/>
                </a:ext>
              </a:extLst>
            </p:cNvPr>
            <p:cNvCxnSpPr>
              <a:cxnSpLocks/>
            </p:cNvCxnSpPr>
            <p:nvPr/>
          </p:nvCxnSpPr>
          <p:spPr>
            <a:xfrm>
              <a:off x="7159884" y="3886748"/>
              <a:ext cx="440239" cy="0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166">
              <a:extLst>
                <a:ext uri="{FF2B5EF4-FFF2-40B4-BE49-F238E27FC236}">
                  <a16:creationId xmlns:a16="http://schemas.microsoft.com/office/drawing/2014/main" id="{9969CBE5-5E2A-6FE6-E576-4AACDCF1E96C}"/>
                </a:ext>
              </a:extLst>
            </p:cNvPr>
            <p:cNvCxnSpPr>
              <a:cxnSpLocks/>
            </p:cNvCxnSpPr>
            <p:nvPr/>
          </p:nvCxnSpPr>
          <p:spPr>
            <a:xfrm>
              <a:off x="7157389" y="4492658"/>
              <a:ext cx="440239" cy="0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167">
              <a:extLst>
                <a:ext uri="{FF2B5EF4-FFF2-40B4-BE49-F238E27FC236}">
                  <a16:creationId xmlns:a16="http://schemas.microsoft.com/office/drawing/2014/main" id="{AF2CD84B-5426-69ED-A6EB-2F689FAC30D5}"/>
                </a:ext>
              </a:extLst>
            </p:cNvPr>
            <p:cNvCxnSpPr>
              <a:cxnSpLocks/>
            </p:cNvCxnSpPr>
            <p:nvPr/>
          </p:nvCxnSpPr>
          <p:spPr>
            <a:xfrm>
              <a:off x="7764085" y="2674928"/>
              <a:ext cx="440239" cy="0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168">
              <a:extLst>
                <a:ext uri="{FF2B5EF4-FFF2-40B4-BE49-F238E27FC236}">
                  <a16:creationId xmlns:a16="http://schemas.microsoft.com/office/drawing/2014/main" id="{E92B3400-7883-293F-34D9-DF5F9F271CE2}"/>
                </a:ext>
              </a:extLst>
            </p:cNvPr>
            <p:cNvCxnSpPr>
              <a:cxnSpLocks/>
            </p:cNvCxnSpPr>
            <p:nvPr/>
          </p:nvCxnSpPr>
          <p:spPr>
            <a:xfrm>
              <a:off x="7761589" y="3280838"/>
              <a:ext cx="440239" cy="0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169">
              <a:extLst>
                <a:ext uri="{FF2B5EF4-FFF2-40B4-BE49-F238E27FC236}">
                  <a16:creationId xmlns:a16="http://schemas.microsoft.com/office/drawing/2014/main" id="{85DDBC7A-ACDB-86D7-1B65-BF06B6355C54}"/>
                </a:ext>
              </a:extLst>
            </p:cNvPr>
            <p:cNvCxnSpPr>
              <a:cxnSpLocks/>
            </p:cNvCxnSpPr>
            <p:nvPr/>
          </p:nvCxnSpPr>
          <p:spPr>
            <a:xfrm>
              <a:off x="7759094" y="3886748"/>
              <a:ext cx="440239" cy="0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170">
              <a:extLst>
                <a:ext uri="{FF2B5EF4-FFF2-40B4-BE49-F238E27FC236}">
                  <a16:creationId xmlns:a16="http://schemas.microsoft.com/office/drawing/2014/main" id="{DCD08870-EAAE-C327-12C2-F9874309B5D2}"/>
                </a:ext>
              </a:extLst>
            </p:cNvPr>
            <p:cNvCxnSpPr>
              <a:cxnSpLocks/>
            </p:cNvCxnSpPr>
            <p:nvPr/>
          </p:nvCxnSpPr>
          <p:spPr>
            <a:xfrm>
              <a:off x="7756599" y="4492658"/>
              <a:ext cx="440239" cy="0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171">
              <a:extLst>
                <a:ext uri="{FF2B5EF4-FFF2-40B4-BE49-F238E27FC236}">
                  <a16:creationId xmlns:a16="http://schemas.microsoft.com/office/drawing/2014/main" id="{7695F251-674E-927C-3EFB-E76E54EA96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2191" y="2815078"/>
              <a:ext cx="0" cy="436158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172">
              <a:extLst>
                <a:ext uri="{FF2B5EF4-FFF2-40B4-BE49-F238E27FC236}">
                  <a16:creationId xmlns:a16="http://schemas.microsoft.com/office/drawing/2014/main" id="{C92C84E8-6AFD-5763-A81D-93D0E0D396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6365" y="2815078"/>
              <a:ext cx="0" cy="436158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173">
              <a:extLst>
                <a:ext uri="{FF2B5EF4-FFF2-40B4-BE49-F238E27FC236}">
                  <a16:creationId xmlns:a16="http://schemas.microsoft.com/office/drawing/2014/main" id="{327644F7-7714-7520-14A4-1802645262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0538" y="2815078"/>
              <a:ext cx="0" cy="436158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174">
              <a:extLst>
                <a:ext uri="{FF2B5EF4-FFF2-40B4-BE49-F238E27FC236}">
                  <a16:creationId xmlns:a16="http://schemas.microsoft.com/office/drawing/2014/main" id="{461EBA5C-080E-8E9A-B71D-DF22BE4C38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4711" y="2815078"/>
              <a:ext cx="0" cy="436158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175">
              <a:extLst>
                <a:ext uri="{FF2B5EF4-FFF2-40B4-BE49-F238E27FC236}">
                  <a16:creationId xmlns:a16="http://schemas.microsoft.com/office/drawing/2014/main" id="{6C8F1A5D-7030-DD79-80CC-6165EA6F3F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2191" y="3411235"/>
              <a:ext cx="0" cy="436158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176">
              <a:extLst>
                <a:ext uri="{FF2B5EF4-FFF2-40B4-BE49-F238E27FC236}">
                  <a16:creationId xmlns:a16="http://schemas.microsoft.com/office/drawing/2014/main" id="{4CEA2E94-5FCF-272A-B837-CD8AEE41A9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6365" y="3411235"/>
              <a:ext cx="0" cy="436158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177">
              <a:extLst>
                <a:ext uri="{FF2B5EF4-FFF2-40B4-BE49-F238E27FC236}">
                  <a16:creationId xmlns:a16="http://schemas.microsoft.com/office/drawing/2014/main" id="{C385F570-BE00-00BC-3531-7899C4013D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0538" y="3411235"/>
              <a:ext cx="0" cy="436158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178">
              <a:extLst>
                <a:ext uri="{FF2B5EF4-FFF2-40B4-BE49-F238E27FC236}">
                  <a16:creationId xmlns:a16="http://schemas.microsoft.com/office/drawing/2014/main" id="{97A15A9C-98DD-AC7A-BACB-F27E7C1EF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4711" y="3411235"/>
              <a:ext cx="0" cy="436158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179">
              <a:extLst>
                <a:ext uri="{FF2B5EF4-FFF2-40B4-BE49-F238E27FC236}">
                  <a16:creationId xmlns:a16="http://schemas.microsoft.com/office/drawing/2014/main" id="{6F6D2917-B7F3-6F1C-5249-972AE44CF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2191" y="4007392"/>
              <a:ext cx="0" cy="436158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180">
              <a:extLst>
                <a:ext uri="{FF2B5EF4-FFF2-40B4-BE49-F238E27FC236}">
                  <a16:creationId xmlns:a16="http://schemas.microsoft.com/office/drawing/2014/main" id="{13F2EBEA-2D1B-562E-640F-B31B19EC5A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6365" y="4007392"/>
              <a:ext cx="0" cy="436158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181">
              <a:extLst>
                <a:ext uri="{FF2B5EF4-FFF2-40B4-BE49-F238E27FC236}">
                  <a16:creationId xmlns:a16="http://schemas.microsoft.com/office/drawing/2014/main" id="{48589CD4-80A3-50D9-04C3-28B4B36CF5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0538" y="4007392"/>
              <a:ext cx="0" cy="436158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182">
              <a:extLst>
                <a:ext uri="{FF2B5EF4-FFF2-40B4-BE49-F238E27FC236}">
                  <a16:creationId xmlns:a16="http://schemas.microsoft.com/office/drawing/2014/main" id="{F2C50E2A-E3D0-B6F1-AC94-EDEC84B55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4711" y="4007392"/>
              <a:ext cx="0" cy="436158"/>
            </a:xfrm>
            <a:prstGeom prst="straightConnector1">
              <a:avLst/>
            </a:prstGeom>
            <a:ln w="19050">
              <a:solidFill>
                <a:schemeClr val="accent3"/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矩形 184">
              <a:extLst>
                <a:ext uri="{FF2B5EF4-FFF2-40B4-BE49-F238E27FC236}">
                  <a16:creationId xmlns:a16="http://schemas.microsoft.com/office/drawing/2014/main" id="{C7A14522-9AA5-08F5-B2F4-8AA60CB19ACD}"/>
                </a:ext>
              </a:extLst>
            </p:cNvPr>
            <p:cNvSpPr/>
            <p:nvPr/>
          </p:nvSpPr>
          <p:spPr>
            <a:xfrm>
              <a:off x="6383186" y="5188644"/>
              <a:ext cx="2377353" cy="1600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zh-CN" altLang="en-US" sz="1400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68" name="矩形 185">
              <a:extLst>
                <a:ext uri="{FF2B5EF4-FFF2-40B4-BE49-F238E27FC236}">
                  <a16:creationId xmlns:a16="http://schemas.microsoft.com/office/drawing/2014/main" id="{501F3037-8BB2-4607-FF89-AD922B471E63}"/>
                </a:ext>
              </a:extLst>
            </p:cNvPr>
            <p:cNvSpPr/>
            <p:nvPr/>
          </p:nvSpPr>
          <p:spPr>
            <a:xfrm rot="16200000">
              <a:off x="7714508" y="3686378"/>
              <a:ext cx="2377353" cy="1600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zh-CN" altLang="en-US" sz="1400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69" name="矩形 186">
              <a:extLst>
                <a:ext uri="{FF2B5EF4-FFF2-40B4-BE49-F238E27FC236}">
                  <a16:creationId xmlns:a16="http://schemas.microsoft.com/office/drawing/2014/main" id="{B2452BDB-A12E-6F70-F56F-98889BC79EF3}"/>
                </a:ext>
              </a:extLst>
            </p:cNvPr>
            <p:cNvSpPr/>
            <p:nvPr/>
          </p:nvSpPr>
          <p:spPr>
            <a:xfrm rot="16200000">
              <a:off x="4898134" y="3686378"/>
              <a:ext cx="2377353" cy="1600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zh-CN" altLang="en-US" sz="1400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70" name="矩形 187">
              <a:extLst>
                <a:ext uri="{FF2B5EF4-FFF2-40B4-BE49-F238E27FC236}">
                  <a16:creationId xmlns:a16="http://schemas.microsoft.com/office/drawing/2014/main" id="{DEAA8AF4-718E-210A-A55B-9D20FB25F638}"/>
                </a:ext>
              </a:extLst>
            </p:cNvPr>
            <p:cNvSpPr/>
            <p:nvPr/>
          </p:nvSpPr>
          <p:spPr>
            <a:xfrm>
              <a:off x="6383186" y="2269012"/>
              <a:ext cx="2377353" cy="1600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2"/>
                  </a:solidFill>
                  <a:latin typeface="Arial Narrow" panose="020B0604020202020204" pitchFamily="34" charset="0"/>
                  <a:cs typeface="Arial Narrow" panose="020B0604020202020204" pitchFamily="34" charset="0"/>
                </a:rPr>
                <a:t>HBM</a:t>
              </a:r>
              <a:endParaRPr lang="zh-CN" altLang="en-US" sz="1400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cxnSp>
        <p:nvCxnSpPr>
          <p:cNvPr id="136" name="直接连接符 328">
            <a:extLst>
              <a:ext uri="{FF2B5EF4-FFF2-40B4-BE49-F238E27FC236}">
                <a16:creationId xmlns:a16="http://schemas.microsoft.com/office/drawing/2014/main" id="{95F1EAA6-10A6-30E5-AAE8-EA2B1B80CF28}"/>
              </a:ext>
            </a:extLst>
          </p:cNvPr>
          <p:cNvCxnSpPr>
            <a:cxnSpLocks/>
            <a:stCxn id="114" idx="3"/>
          </p:cNvCxnSpPr>
          <p:nvPr/>
        </p:nvCxnSpPr>
        <p:spPr>
          <a:xfrm>
            <a:off x="7796329" y="4798905"/>
            <a:ext cx="2079390" cy="488092"/>
          </a:xfrm>
          <a:prstGeom prst="line">
            <a:avLst/>
          </a:prstGeom>
          <a:ln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329">
            <a:extLst>
              <a:ext uri="{FF2B5EF4-FFF2-40B4-BE49-F238E27FC236}">
                <a16:creationId xmlns:a16="http://schemas.microsoft.com/office/drawing/2014/main" id="{03411F4D-B01C-B3E0-AA05-3CA4B5F71498}"/>
              </a:ext>
            </a:extLst>
          </p:cNvPr>
          <p:cNvCxnSpPr>
            <a:cxnSpLocks/>
            <a:stCxn id="114" idx="2"/>
          </p:cNvCxnSpPr>
          <p:nvPr/>
        </p:nvCxnSpPr>
        <p:spPr>
          <a:xfrm>
            <a:off x="7696598" y="4899281"/>
            <a:ext cx="2355333" cy="1203793"/>
          </a:xfrm>
          <a:prstGeom prst="line">
            <a:avLst/>
          </a:prstGeom>
          <a:ln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Content Placeholder 2">
            <a:extLst>
              <a:ext uri="{FF2B5EF4-FFF2-40B4-BE49-F238E27FC236}">
                <a16:creationId xmlns:a16="http://schemas.microsoft.com/office/drawing/2014/main" id="{355FCCA7-22FC-378F-9050-B3DD23D2A5A0}"/>
              </a:ext>
            </a:extLst>
          </p:cNvPr>
          <p:cNvSpPr txBox="1">
            <a:spLocks/>
          </p:cNvSpPr>
          <p:nvPr/>
        </p:nvSpPr>
        <p:spPr>
          <a:xfrm>
            <a:off x="-81889" y="1123107"/>
            <a:ext cx="4951260" cy="3634718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304795" indent="-304795" algn="l" defTabSz="761976" rtl="0" eaLnBrk="1" latinLnBrk="0" hangingPunct="1">
              <a:lnSpc>
                <a:spcPct val="100000"/>
              </a:lnSpc>
              <a:spcBef>
                <a:spcPts val="1270"/>
              </a:spcBef>
              <a:buClrTx/>
              <a:buSzPct val="90000"/>
              <a:buFont typeface="Arial" panose="020B0604020202020204" pitchFamily="34" charset="0"/>
              <a:buChar char="•"/>
              <a:defRPr sz="254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33383" indent="-228597" algn="l" defTabSz="761976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211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61976" indent="-228597" algn="l" defTabSz="914389" rtl="0" eaLnBrk="1" latinLnBrk="0" hangingPunct="1">
              <a:lnSpc>
                <a:spcPct val="100000"/>
              </a:lnSpc>
              <a:spcBef>
                <a:spcPts val="635"/>
              </a:spcBef>
              <a:buClrTx/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90569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7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219162" indent="-228597" algn="l" defTabSz="914389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64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569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64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58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52" indent="-228597" algn="l" defTabSz="91438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00"/>
              </a:lnSpc>
              <a:defRPr/>
            </a:pPr>
            <a:r>
              <a:rPr lang="en-US" altLang="zh-CN" sz="2400" dirty="0"/>
              <a:t>System Level</a:t>
            </a:r>
          </a:p>
          <a:p>
            <a:pPr lvl="1">
              <a:lnSpc>
                <a:spcPts val="2700"/>
              </a:lnSpc>
              <a:defRPr/>
            </a:pPr>
            <a:r>
              <a:rPr lang="en-US" altLang="zh-CN" sz="1800" dirty="0"/>
              <a:t>Manycore </a:t>
            </a:r>
            <a:r>
              <a:rPr lang="en-US" altLang="zh-CN" sz="1800" dirty="0" err="1"/>
              <a:t>NoC</a:t>
            </a:r>
            <a:r>
              <a:rPr lang="en-US" altLang="zh-CN" sz="1800" dirty="0"/>
              <a:t> Architecture</a:t>
            </a:r>
          </a:p>
          <a:p>
            <a:pPr lvl="1">
              <a:lnSpc>
                <a:spcPts val="2700"/>
              </a:lnSpc>
              <a:defRPr/>
            </a:pPr>
            <a:r>
              <a:rPr lang="en-US" altLang="zh-CN" sz="1800" dirty="0"/>
              <a:t>Each cluster has </a:t>
            </a:r>
          </a:p>
          <a:p>
            <a:pPr lvl="2">
              <a:lnSpc>
                <a:spcPts val="2700"/>
              </a:lnSpc>
              <a:defRPr/>
            </a:pPr>
            <a:r>
              <a:rPr lang="en-US" altLang="zh-CN" sz="1588" dirty="0"/>
              <a:t>A Vector Processor</a:t>
            </a:r>
          </a:p>
          <a:p>
            <a:pPr lvl="2">
              <a:lnSpc>
                <a:spcPts val="2700"/>
              </a:lnSpc>
              <a:defRPr/>
            </a:pPr>
            <a:r>
              <a:rPr lang="en-US" altLang="zh-CN" sz="1588" dirty="0"/>
              <a:t>L1 Memory (~1 MiB)</a:t>
            </a:r>
          </a:p>
          <a:p>
            <a:pPr lvl="2">
              <a:lnSpc>
                <a:spcPts val="2700"/>
              </a:lnSpc>
              <a:defRPr/>
            </a:pPr>
            <a:r>
              <a:rPr lang="en-US" altLang="zh-CN" sz="1588" dirty="0"/>
              <a:t>Inter-Cluster Broadcast and Communication</a:t>
            </a:r>
          </a:p>
          <a:p>
            <a:pPr lvl="2">
              <a:lnSpc>
                <a:spcPts val="2700"/>
              </a:lnSpc>
              <a:defRPr/>
            </a:pPr>
            <a:endParaRPr lang="en-US" altLang="zh-CN" sz="1588" dirty="0"/>
          </a:p>
          <a:p>
            <a:pPr lvl="2">
              <a:lnSpc>
                <a:spcPts val="2700"/>
              </a:lnSpc>
              <a:defRPr/>
            </a:pPr>
            <a:endParaRPr lang="en-US" altLang="zh-CN" sz="1588" dirty="0">
              <a:solidFill>
                <a:schemeClr val="accent3">
                  <a:lumMod val="75000"/>
                </a:schemeClr>
              </a:solidFill>
            </a:endParaRPr>
          </a:p>
          <a:p>
            <a:pPr marL="304786" lvl="1" indent="0">
              <a:lnSpc>
                <a:spcPts val="2700"/>
              </a:lnSpc>
              <a:buNone/>
              <a:defRPr/>
            </a:pPr>
            <a:endParaRPr lang="en-US" altLang="zh-CN" sz="1977" dirty="0"/>
          </a:p>
        </p:txBody>
      </p:sp>
      <p:sp>
        <p:nvSpPr>
          <p:cNvPr id="139" name="灯片编号占位符 1">
            <a:extLst>
              <a:ext uri="{FF2B5EF4-FFF2-40B4-BE49-F238E27FC236}">
                <a16:creationId xmlns:a16="http://schemas.microsoft.com/office/drawing/2014/main" id="{2504BEE9-B374-8228-615E-5BCDCE6440EA}"/>
              </a:ext>
            </a:extLst>
          </p:cNvPr>
          <p:cNvSpPr txBox="1">
            <a:spLocks/>
          </p:cNvSpPr>
          <p:nvPr/>
        </p:nvSpPr>
        <p:spPr>
          <a:xfrm>
            <a:off x="10846730" y="6583096"/>
            <a:ext cx="846138" cy="30676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DD8BBF-345E-4024-ADB0-843CB582CCD3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48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89038-B15A-8340-229F-A6B30EB1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Quantization</a:t>
            </a:r>
          </a:p>
        </p:txBody>
      </p:sp>
      <p:pic>
        <p:nvPicPr>
          <p:cNvPr id="7" name="Content Placeholder 6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FBBBE740-4D5F-0D6A-33AD-85C22D07A10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-594287" y="1012398"/>
            <a:ext cx="8988032" cy="490730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C1418-A3E5-749D-BB91-EFB1C64C96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13B0F-4654-E4A2-B9B0-E7024FBDC9E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F3175-55EE-403A-26A4-943D26B2EDE9}"/>
              </a:ext>
            </a:extLst>
          </p:cNvPr>
          <p:cNvSpPr txBox="1"/>
          <p:nvPr/>
        </p:nvSpPr>
        <p:spPr>
          <a:xfrm>
            <a:off x="8861612" y="149262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6985CA-731E-ACEF-FC0A-4A9B50077EFB}"/>
              </a:ext>
            </a:extLst>
          </p:cNvPr>
          <p:cNvSpPr txBox="1"/>
          <p:nvPr/>
        </p:nvSpPr>
        <p:spPr>
          <a:xfrm>
            <a:off x="3665531" y="3095215"/>
            <a:ext cx="6763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i="1" dirty="0">
                <a:latin typeface="Cambria Math" panose="02040503050406030204" pitchFamily="18" charset="0"/>
              </a:rPr>
              <a:t>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9D9458-2BB0-1058-5908-DB2B28FCA87B}"/>
              </a:ext>
            </a:extLst>
          </p:cNvPr>
          <p:cNvSpPr txBox="1"/>
          <p:nvPr/>
        </p:nvSpPr>
        <p:spPr>
          <a:xfrm>
            <a:off x="8915400" y="190948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8201FF-9C86-528A-6914-840C2D4EEE6B}"/>
              </a:ext>
            </a:extLst>
          </p:cNvPr>
          <p:cNvSpPr txBox="1"/>
          <p:nvPr/>
        </p:nvSpPr>
        <p:spPr>
          <a:xfrm>
            <a:off x="8727141" y="151951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7B9CC3-FB50-98DB-B13E-D29064724635}"/>
              </a:ext>
            </a:extLst>
          </p:cNvPr>
          <p:cNvSpPr txBox="1"/>
          <p:nvPr/>
        </p:nvSpPr>
        <p:spPr>
          <a:xfrm>
            <a:off x="8996082" y="22860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5A2992-FD36-5181-1839-C677A00FC87D}"/>
              </a:ext>
            </a:extLst>
          </p:cNvPr>
          <p:cNvSpPr txBox="1"/>
          <p:nvPr/>
        </p:nvSpPr>
        <p:spPr>
          <a:xfrm>
            <a:off x="9063318" y="2568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0D275C-B189-0EE1-60CB-BB760F00F3C2}"/>
              </a:ext>
            </a:extLst>
          </p:cNvPr>
          <p:cNvSpPr txBox="1"/>
          <p:nvPr/>
        </p:nvSpPr>
        <p:spPr>
          <a:xfrm>
            <a:off x="7068843" y="901820"/>
            <a:ext cx="4038428" cy="49073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720000"/>
            <a:r>
              <a:rPr lang="en-US" sz="2400" dirty="0"/>
              <a:t>Vector v   = [-0.5, -0.2]</a:t>
            </a:r>
          </a:p>
          <a:p>
            <a:pPr defTabSz="720000"/>
            <a:r>
              <a:rPr lang="en-US" sz="2400" dirty="0"/>
              <a:t>Centroid1 = [-2 2]</a:t>
            </a:r>
          </a:p>
          <a:p>
            <a:pPr defTabSz="720000"/>
            <a:r>
              <a:rPr lang="en-US" sz="2400" dirty="0"/>
              <a:t>Centroid2 = [2 -2]</a:t>
            </a:r>
          </a:p>
          <a:p>
            <a:pPr defTabSz="720000"/>
            <a:endParaRPr lang="en-US" sz="2400" dirty="0"/>
          </a:p>
          <a:p>
            <a:pPr defTabSz="720000"/>
            <a:r>
              <a:rPr lang="en-US" sz="2400" dirty="0"/>
              <a:t>Centroids stored in codebook</a:t>
            </a:r>
          </a:p>
          <a:p>
            <a:pPr defTabSz="720000"/>
            <a:r>
              <a:rPr lang="en-US" sz="2400" dirty="0"/>
              <a:t>Codebook=[centroid1</a:t>
            </a:r>
          </a:p>
          <a:p>
            <a:pPr defTabSz="720000"/>
            <a:r>
              <a:rPr lang="en-US" sz="2400" dirty="0"/>
              <a:t>		 centroid2]</a:t>
            </a:r>
          </a:p>
          <a:p>
            <a:pPr defTabSz="720000"/>
            <a:endParaRPr lang="en-US" sz="2400" dirty="0"/>
          </a:p>
          <a:p>
            <a:pPr defTabSz="720000"/>
            <a:r>
              <a:rPr lang="en-US" sz="2400" dirty="0"/>
              <a:t>Assign v to centroid 2</a:t>
            </a:r>
          </a:p>
          <a:p>
            <a:pPr defTabSz="720000"/>
            <a:endParaRPr lang="en-US" sz="2400" dirty="0"/>
          </a:p>
          <a:p>
            <a:pPr defTabSz="720000"/>
            <a:endParaRPr lang="en-US" sz="2400" dirty="0"/>
          </a:p>
          <a:p>
            <a:pPr defTabSz="720000"/>
            <a:r>
              <a:rPr lang="en-US" sz="2400" dirty="0"/>
              <a:t>Encoded Index to access codebook entry [0-&gt; centroid1</a:t>
            </a:r>
          </a:p>
          <a:p>
            <a:pPr defTabSz="720000"/>
            <a:r>
              <a:rPr lang="en-US" sz="2400" dirty="0"/>
              <a:t>		          1-&gt; centroid2]</a:t>
            </a:r>
          </a:p>
          <a:p>
            <a:pPr defTabSz="720000"/>
            <a:endParaRPr lang="en-US" sz="2400" dirty="0"/>
          </a:p>
          <a:p>
            <a:pPr defTabSz="720000"/>
            <a:endParaRPr lang="en-US" sz="2400" dirty="0"/>
          </a:p>
          <a:p>
            <a:pPr algn="l" defTabSz="72000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572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6804D-8D1A-650A-B4B3-BCE88DE4C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Dequantization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665323-9974-8C19-1042-BC13D81C534D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Look up the Encoded Index in the Codebook -&gt; Indirect Access needed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𝒊𝒏𝒅𝒆𝒙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]]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665323-9974-8C19-1042-BC13D81C53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509" t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35A25-3057-6F20-C878-D145EB80183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E2CA8-E4D7-90B3-971E-1F8E38E86A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DC23D0-818E-664B-55ED-CAAF3E16946C}"/>
              </a:ext>
            </a:extLst>
          </p:cNvPr>
          <p:cNvSpPr txBox="1"/>
          <p:nvPr/>
        </p:nvSpPr>
        <p:spPr>
          <a:xfrm>
            <a:off x="1282890" y="125559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268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5B3D7-ECCF-1EF5-EE4E-399C8062D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AQLM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BEE86-5778-59A0-DF68-AAA0E19A854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Quantize the rows of a Matrix</a:t>
                </a:r>
              </a:p>
              <a:p>
                <a:r>
                  <a:rPr lang="en-US" dirty="0"/>
                  <a:t>Additive Quantization: Reconstructed Matrix is sum of M codewords from M codebooks</a:t>
                </a:r>
              </a:p>
              <a:p>
                <a:r>
                  <a:rPr lang="en-US" dirty="0"/>
                  <a:t>For B Bits Indices, we can access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𝑩</m:t>
                        </m:r>
                      </m:sup>
                    </m:sSup>
                  </m:oMath>
                </a14:m>
                <a:r>
                  <a:rPr lang="en-US" dirty="0"/>
                  <a:t> Entries in the Codebook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BEE86-5778-59A0-DF68-AAA0E19A85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509" t="-728" r="-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A483-4145-E518-6D81-60EC43FC8D5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A4A303-7521-E4AC-4816-A7E8C07A46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 descr="A diagram of a codebook&#10;&#10;Description automatically generated">
            <a:extLst>
              <a:ext uri="{FF2B5EF4-FFF2-40B4-BE49-F238E27FC236}">
                <a16:creationId xmlns:a16="http://schemas.microsoft.com/office/drawing/2014/main" id="{BFBD34A3-6FF5-311B-E9F1-180C0E414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79" y="2891386"/>
            <a:ext cx="5855256" cy="265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399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B06B4-C0A5-E17C-7D84-508F89F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AQLM Quantization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53779-8BF8-3E4E-4D64-A4D2146E46E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For a Big Matrix, It is also possible to </a:t>
            </a:r>
            <a:r>
              <a:rPr lang="en-US" u="sng" dirty="0"/>
              <a:t>split </a:t>
            </a:r>
            <a:r>
              <a:rPr lang="en-US" u="sng" dirty="0">
                <a:solidFill>
                  <a:schemeClr val="accent3">
                    <a:lumMod val="75000"/>
                  </a:schemeClr>
                </a:solidFill>
              </a:rPr>
              <a:t>W by groups vertically along the columns and quantize each group g separately (with the same codebook)</a:t>
            </a:r>
          </a:p>
          <a:p>
            <a:r>
              <a:rPr lang="en-US" dirty="0"/>
              <a:t>-&gt; Can Dequantize different columns with the same codebook simultaneously In Multicore Setting</a:t>
            </a:r>
          </a:p>
          <a:p>
            <a:r>
              <a:rPr lang="en-US" dirty="0"/>
              <a:t>-&gt; Each centroid has size (1,g)</a:t>
            </a:r>
          </a:p>
          <a:p>
            <a:r>
              <a:rPr lang="en-US" dirty="0"/>
              <a:t>We still encode row by row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D2253-E272-D913-55FB-4768A88A6A0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CF34B-1A52-CD7D-38E9-999318F07C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 descr="A graph with numbers and symbols&#10;&#10;Description automatically generated">
            <a:extLst>
              <a:ext uri="{FF2B5EF4-FFF2-40B4-BE49-F238E27FC236}">
                <a16:creationId xmlns:a16="http://schemas.microsoft.com/office/drawing/2014/main" id="{A1213880-F863-8A4B-E87D-D71D37DE2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562" y="2790350"/>
            <a:ext cx="3174693" cy="3077650"/>
          </a:xfrm>
          <a:prstGeom prst="rect">
            <a:avLst/>
          </a:prstGeom>
        </p:spPr>
      </p:pic>
      <p:pic>
        <p:nvPicPr>
          <p:cNvPr id="12" name="Picture 11" descr="A screenshot of a graph&#10;&#10;Description automatically generated">
            <a:extLst>
              <a:ext uri="{FF2B5EF4-FFF2-40B4-BE49-F238E27FC236}">
                <a16:creationId xmlns:a16="http://schemas.microsoft.com/office/drawing/2014/main" id="{8866EAD0-97B8-6E60-550F-0C166DACA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115" y="3240087"/>
            <a:ext cx="2637097" cy="245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04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B06B4-C0A5-E17C-7D84-508F89FAA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71" y="170391"/>
            <a:ext cx="10080000" cy="620851"/>
          </a:xfrm>
        </p:spPr>
        <p:txBody>
          <a:bodyPr/>
          <a:lstStyle/>
          <a:p>
            <a:r>
              <a:rPr lang="en-US" dirty="0"/>
              <a:t>AQLM Quantization</a:t>
            </a:r>
          </a:p>
        </p:txBody>
      </p:sp>
      <p:pic>
        <p:nvPicPr>
          <p:cNvPr id="7" name="Content Placeholder 6" descr="A diagram of a code book&#10;&#10;Description automatically generated">
            <a:extLst>
              <a:ext uri="{FF2B5EF4-FFF2-40B4-BE49-F238E27FC236}">
                <a16:creationId xmlns:a16="http://schemas.microsoft.com/office/drawing/2014/main" id="{D53554D0-7344-31B0-BEA4-C59CA8B8DD9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139978" y="656500"/>
            <a:ext cx="5408751" cy="470448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D2253-E272-D913-55FB-4768A88A6A0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505907" y="6137853"/>
            <a:ext cx="6840000" cy="288000"/>
          </a:xfrm>
        </p:spPr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CF34B-1A52-CD7D-38E9-999318F07C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910422" y="6137082"/>
            <a:ext cx="540000" cy="288000"/>
          </a:xfrm>
        </p:spPr>
        <p:txBody>
          <a:bodyPr/>
          <a:lstStyle/>
          <a:p>
            <a:fld id="{33867F2A-E750-44E7-A740-D3E09DF683A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AFD60-CD9F-08E0-F318-32F2D180CD8C}"/>
              </a:ext>
            </a:extLst>
          </p:cNvPr>
          <p:cNvSpPr txBox="1"/>
          <p:nvPr/>
        </p:nvSpPr>
        <p:spPr>
          <a:xfrm>
            <a:off x="490330" y="13384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B6EFFD3C-14F1-1385-94A3-B97DD6637CFE}"/>
              </a:ext>
            </a:extLst>
          </p:cNvPr>
          <p:cNvSpPr txBox="1">
            <a:spLocks/>
          </p:cNvSpPr>
          <p:nvPr/>
        </p:nvSpPr>
        <p:spPr>
          <a:xfrm>
            <a:off x="299068" y="936000"/>
            <a:ext cx="3897449" cy="4867272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288004" indent="-288004" algn="l" defTabSz="7200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defRPr sz="2400" b="1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04000" indent="-216004" algn="l" defTabSz="7200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SzPct val="9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20000" indent="-216004" algn="l" defTabSz="864017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SzPct val="9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36000" indent="-216004" algn="l" defTabSz="864017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152000" indent="-216004" algn="l" defTabSz="864017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376046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54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6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070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1) scale (divide by the scaled value</a:t>
            </a:r>
          </a:p>
          <a:p>
            <a:r>
              <a:rPr lang="en-US"/>
              <a:t>2) assign the to-be-encoded row to nearest centroid in both codebooks</a:t>
            </a:r>
          </a:p>
          <a:p>
            <a:r>
              <a:rPr lang="en-US"/>
              <a:t>3) store the nearest centroid location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606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F1540-7E99-86AD-4B87-DBC0E5649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AQLM Quantization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83580-7299-9A41-72AE-D49291768C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3C18F-6C5C-154A-2F4E-6ECC35FDDF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9101CC-A062-59D8-B16B-68D309857B67}"/>
              </a:ext>
            </a:extLst>
          </p:cNvPr>
          <p:cNvSpPr txBox="1"/>
          <p:nvPr/>
        </p:nvSpPr>
        <p:spPr>
          <a:xfrm>
            <a:off x="8574157" y="39093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A6C50F-5D46-7BA0-A4D1-FFCA2FFA144E}"/>
              </a:ext>
            </a:extLst>
          </p:cNvPr>
          <p:cNvSpPr txBox="1"/>
          <p:nvPr/>
        </p:nvSpPr>
        <p:spPr>
          <a:xfrm>
            <a:off x="8971722" y="385638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21C421-8D20-7D45-66FA-5DE13153701C}"/>
              </a:ext>
            </a:extLst>
          </p:cNvPr>
          <p:cNvSpPr txBox="1"/>
          <p:nvPr/>
        </p:nvSpPr>
        <p:spPr>
          <a:xfrm>
            <a:off x="8600661" y="3240087"/>
            <a:ext cx="1745246" cy="10933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  <p:pic>
        <p:nvPicPr>
          <p:cNvPr id="11" name="Picture 10" descr="A diagram of a code book&#10;&#10;Description automatically generated">
            <a:extLst>
              <a:ext uri="{FF2B5EF4-FFF2-40B4-BE49-F238E27FC236}">
                <a16:creationId xmlns:a16="http://schemas.microsoft.com/office/drawing/2014/main" id="{06B44F03-7990-5361-90BA-978FB8BB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740" y="381358"/>
            <a:ext cx="5861883" cy="5486642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A02FD48-02A3-034B-C79F-8841A996AD8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91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43102-9A65-0A02-F1EB-95E30BF05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AQLM Dequantization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37D3C-AA23-6A81-05AC-72AA12D6C94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Each decoding step decodes g elements(size of centroid) </a:t>
            </a:r>
          </a:p>
          <a:p>
            <a:pPr lvl="1"/>
            <a:r>
              <a:rPr lang="en-US" dirty="0"/>
              <a:t>Decompression happens along the rows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ABEA0-5AFB-7F27-51C7-349F512FEF8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57011-1865-B85C-803E-1DA30A62AF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E67B1C-DA0D-C9BE-8EEA-F6ADE1549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281" y="2359923"/>
            <a:ext cx="7621172" cy="377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389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1EE2-1A42-14B0-85AF-20852C852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AQLM Configs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D7C33-CD8D-A802-F945-0F1C22CF447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Parameters to Quantize:</a:t>
            </a:r>
          </a:p>
          <a:p>
            <a:pPr lvl="1"/>
            <a:r>
              <a:rPr lang="en-US" dirty="0"/>
              <a:t>M = Number of Codebooks</a:t>
            </a:r>
          </a:p>
          <a:p>
            <a:pPr lvl="1"/>
            <a:r>
              <a:rPr lang="en-US" dirty="0"/>
              <a:t>g   = Group Size</a:t>
            </a:r>
          </a:p>
          <a:p>
            <a:pPr lvl="1"/>
            <a:r>
              <a:rPr lang="en-US" dirty="0"/>
              <a:t>B   = Number of Indices Bits </a:t>
            </a:r>
          </a:p>
          <a:p>
            <a:pPr marL="287996" lvl="1" indent="0">
              <a:buNone/>
            </a:pPr>
            <a:endParaRPr lang="en-US" dirty="0"/>
          </a:p>
          <a:p>
            <a:pPr lvl="1"/>
            <a:r>
              <a:rPr lang="en-US" dirty="0"/>
              <a:t>AQLM’s best results use </a:t>
            </a:r>
          </a:p>
          <a:p>
            <a:pPr marL="287996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AE8E2-9281-95C0-F208-EDE3695651F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83E4C1-C998-9A88-8175-9E8ED0AF1E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BC27B1-6ACE-D2DC-70CF-10E969E03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69691"/>
              </p:ext>
            </p:extLst>
          </p:nvPr>
        </p:nvGraphicFramePr>
        <p:xfrm>
          <a:off x="511222" y="3334144"/>
          <a:ext cx="8567360" cy="2422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3472">
                  <a:extLst>
                    <a:ext uri="{9D8B030D-6E8A-4147-A177-3AD203B41FA5}">
                      <a16:colId xmlns:a16="http://schemas.microsoft.com/office/drawing/2014/main" val="789080926"/>
                    </a:ext>
                  </a:extLst>
                </a:gridCol>
                <a:gridCol w="1713472">
                  <a:extLst>
                    <a:ext uri="{9D8B030D-6E8A-4147-A177-3AD203B41FA5}">
                      <a16:colId xmlns:a16="http://schemas.microsoft.com/office/drawing/2014/main" val="810435059"/>
                    </a:ext>
                  </a:extLst>
                </a:gridCol>
                <a:gridCol w="1461737">
                  <a:extLst>
                    <a:ext uri="{9D8B030D-6E8A-4147-A177-3AD203B41FA5}">
                      <a16:colId xmlns:a16="http://schemas.microsoft.com/office/drawing/2014/main" val="1438680226"/>
                    </a:ext>
                  </a:extLst>
                </a:gridCol>
                <a:gridCol w="2434281">
                  <a:extLst>
                    <a:ext uri="{9D8B030D-6E8A-4147-A177-3AD203B41FA5}">
                      <a16:colId xmlns:a16="http://schemas.microsoft.com/office/drawing/2014/main" val="1018591251"/>
                    </a:ext>
                  </a:extLst>
                </a:gridCol>
                <a:gridCol w="1244398">
                  <a:extLst>
                    <a:ext uri="{9D8B030D-6E8A-4147-A177-3AD203B41FA5}">
                      <a16:colId xmlns:a16="http://schemas.microsoft.com/office/drawing/2014/main" val="1391261806"/>
                    </a:ext>
                  </a:extLst>
                </a:gridCol>
              </a:tblGrid>
              <a:tr h="8967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Codebook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Indices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Memory Footprint</a:t>
                      </a:r>
                    </a:p>
                    <a:p>
                      <a:r>
                        <a:rPr lang="en-US" dirty="0"/>
                        <a:t>(Codebook Size + Indices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Bits per parameter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929415"/>
                  </a:ext>
                </a:extLst>
              </a:tr>
              <a:tr h="629298">
                <a:tc>
                  <a:txBody>
                    <a:bodyPr/>
                    <a:lstStyle/>
                    <a:p>
                      <a:r>
                        <a:rPr lang="en-US" dirty="0"/>
                        <a:t>M=2,g=8,B=8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[2,256,8]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[4096, 512]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KiB+ 4 MiB~4 MiB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471357"/>
                  </a:ext>
                </a:extLst>
              </a:tr>
              <a:tr h="896769">
                <a:tc>
                  <a:txBody>
                    <a:bodyPr/>
                    <a:lstStyle/>
                    <a:p>
                      <a:r>
                        <a:rPr lang="en-US" dirty="0"/>
                        <a:t>M=1,g=8,B=16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[1,65536,8]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[4096, 512]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 MiB+ 4 MiB=5MiB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46279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E9A68A4-9111-D111-C744-3CD19579840D}"/>
              </a:ext>
            </a:extLst>
          </p:cNvPr>
          <p:cNvSpPr txBox="1"/>
          <p:nvPr/>
        </p:nvSpPr>
        <p:spPr>
          <a:xfrm>
            <a:off x="10120184" y="32374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6FB392-5254-B21D-6C9F-61012D3F419C}"/>
              </a:ext>
            </a:extLst>
          </p:cNvPr>
          <p:cNvSpPr txBox="1"/>
          <p:nvPr/>
        </p:nvSpPr>
        <p:spPr>
          <a:xfrm>
            <a:off x="9737124" y="443607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644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F56E9-1A3F-0DAF-3AC5-270F550F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AQLM Configs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B8994-31E9-59DD-C3C4-1334BD93710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Config 2 requires 1 MiB codebook Size which won’t fit into a single cluster</a:t>
            </a:r>
          </a:p>
          <a:p>
            <a:r>
              <a:rPr lang="en-US" dirty="0"/>
              <a:t>-&gt; Config 1 with 2 codebooks and smaller codebook size is preferred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7C54C-E8FF-24B3-F765-041D9C3162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37B7F-EDF7-741C-CA51-CC92AC2BF00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38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2F6BC-3441-7C82-FF99-EB0034B0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VPTQ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2A455-1A8F-75D6-5B16-EFBDC61F33F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Encode  Columns of a Matrix</a:t>
            </a:r>
          </a:p>
          <a:p>
            <a:r>
              <a:rPr lang="en-US" dirty="0"/>
              <a:t>Reshape Weight Matrix -&gt; many columns, few rows</a:t>
            </a:r>
          </a:p>
          <a:p>
            <a:r>
              <a:rPr lang="en-US" dirty="0"/>
              <a:t>Quantize each column separately and update weight matrix at each step</a:t>
            </a:r>
          </a:p>
          <a:p>
            <a:r>
              <a:rPr lang="en-US" dirty="0"/>
              <a:t>Quantize Column by Column (in Contrast, AQLM: row by row)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C46F6-1773-76FA-7A99-82BCC775662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94D708-20E3-3DF3-6AF6-D7B50D8359A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 descr="A diagram of a graphing diagram&#10;&#10;Description automatically generated">
            <a:extLst>
              <a:ext uri="{FF2B5EF4-FFF2-40B4-BE49-F238E27FC236}">
                <a16:creationId xmlns:a16="http://schemas.microsoft.com/office/drawing/2014/main" id="{58326681-2CD6-5809-DA86-1C3411D5E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819" y="2928551"/>
            <a:ext cx="7319162" cy="381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594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BE5D9-3A8B-5961-97A1-FF5B08AE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VPTQ Dequantization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51FC8ED-F096-716F-E23A-CCB24351669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597872" y="1260475"/>
            <a:ext cx="5482398" cy="52197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EBE08-46A7-76FB-8D3F-0FF85AB9B2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D4657-08DC-E442-3611-DF211F9B642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32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3988B-BDFD-5562-3C76-F95AB635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VPTQ Configs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65F7E-2B2A-2CFE-E99F-9EEBBC4D43C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Parameters to Quantize:</a:t>
            </a:r>
          </a:p>
          <a:p>
            <a:pPr lvl="1"/>
            <a:r>
              <a:rPr lang="en-US" dirty="0"/>
              <a:t>v =   Size of Centroid</a:t>
            </a:r>
          </a:p>
          <a:p>
            <a:pPr lvl="1"/>
            <a:r>
              <a:rPr lang="en-US" dirty="0"/>
              <a:t>K   = Number of Centroids</a:t>
            </a:r>
          </a:p>
          <a:p>
            <a:pPr lvl="1"/>
            <a:endParaRPr lang="en-US" dirty="0"/>
          </a:p>
          <a:p>
            <a:pPr marL="287996" lvl="1" indent="0">
              <a:buNone/>
            </a:pPr>
            <a:r>
              <a:rPr lang="en-US" dirty="0"/>
              <a:t>VPTQ’s best results use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1046D-2379-F323-5647-F47BE1296FD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E0BBD-3928-0B73-6452-85E5F4DA1C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FF30FD-EA4B-AFB7-BABA-3AE7E1AC9798}"/>
              </a:ext>
            </a:extLst>
          </p:cNvPr>
          <p:cNvSpPr txBox="1"/>
          <p:nvPr/>
        </p:nvSpPr>
        <p:spPr>
          <a:xfrm>
            <a:off x="104931" y="301302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accent1"/>
              </a:solidFill>
              <a:latin typeface="+mn-lt"/>
              <a:cs typeface="Arial Narrow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3DDB63-7246-6011-17E9-950073B17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668742"/>
              </p:ext>
            </p:extLst>
          </p:nvPr>
        </p:nvGraphicFramePr>
        <p:xfrm>
          <a:off x="304800" y="3025017"/>
          <a:ext cx="8561628" cy="3052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740">
                  <a:extLst>
                    <a:ext uri="{9D8B030D-6E8A-4147-A177-3AD203B41FA5}">
                      <a16:colId xmlns:a16="http://schemas.microsoft.com/office/drawing/2014/main" val="789080926"/>
                    </a:ext>
                  </a:extLst>
                </a:gridCol>
                <a:gridCol w="1713472">
                  <a:extLst>
                    <a:ext uri="{9D8B030D-6E8A-4147-A177-3AD203B41FA5}">
                      <a16:colId xmlns:a16="http://schemas.microsoft.com/office/drawing/2014/main" val="810435059"/>
                    </a:ext>
                  </a:extLst>
                </a:gridCol>
                <a:gridCol w="1713472">
                  <a:extLst>
                    <a:ext uri="{9D8B030D-6E8A-4147-A177-3AD203B41FA5}">
                      <a16:colId xmlns:a16="http://schemas.microsoft.com/office/drawing/2014/main" val="1438680226"/>
                    </a:ext>
                  </a:extLst>
                </a:gridCol>
                <a:gridCol w="1713472">
                  <a:extLst>
                    <a:ext uri="{9D8B030D-6E8A-4147-A177-3AD203B41FA5}">
                      <a16:colId xmlns:a16="http://schemas.microsoft.com/office/drawing/2014/main" val="1018591251"/>
                    </a:ext>
                  </a:extLst>
                </a:gridCol>
                <a:gridCol w="1713472">
                  <a:extLst>
                    <a:ext uri="{9D8B030D-6E8A-4147-A177-3AD203B41FA5}">
                      <a16:colId xmlns:a16="http://schemas.microsoft.com/office/drawing/2014/main" val="1391261806"/>
                    </a:ext>
                  </a:extLst>
                </a:gridCol>
              </a:tblGrid>
              <a:tr h="8967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Codebook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Indices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Memory Footprint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Bits per parameter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929415"/>
                  </a:ext>
                </a:extLst>
              </a:tr>
              <a:tr h="629298">
                <a:tc>
                  <a:txBody>
                    <a:bodyPr/>
                    <a:lstStyle/>
                    <a:p>
                      <a:r>
                        <a:rPr lang="en-US" dirty="0"/>
                        <a:t>V=6,K=4096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[4096,6]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[683, 4096]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 KiB+ can4 MiB~4 MiB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471357"/>
                  </a:ext>
                </a:extLst>
              </a:tr>
              <a:tr h="629298"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V=6,K=4096</a:t>
                      </a:r>
                    </a:p>
                    <a:p>
                      <a:r>
                        <a:rPr lang="en-US" dirty="0"/>
                        <a:t>g=8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[4096,6]*8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[683, 512]</a:t>
                      </a:r>
                    </a:p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 KiB*8+4 MiB~4.4 MiB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~2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708033"/>
                  </a:ext>
                </a:extLst>
              </a:tr>
              <a:tr h="896769">
                <a:tc>
                  <a:txBody>
                    <a:bodyPr/>
                    <a:lstStyle/>
                    <a:p>
                      <a:r>
                        <a:rPr lang="en-US" dirty="0"/>
                        <a:t>V=8, K=32768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[32768,8]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[4096, 512]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0.5 MiB+ 4 MiB=4.5MiB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462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118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91E2D-DC71-EC71-6C05-C95734467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18645-6D39-A7C3-1D91-46F0186E387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Main Idea:</a:t>
            </a:r>
          </a:p>
          <a:p>
            <a:r>
              <a:rPr lang="en-US" dirty="0"/>
              <a:t>Fuse Dequantization and Multiplication to Avoid multiple Memory Accesses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D2245-91EE-8BC4-8820-21623CE9AB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88975-CFDB-4D72-EF50-D26E5486DFA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38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2751-3712-10D0-28CE-AB5B988DC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VPTQ and AQLM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0999-0AD1-F58E-F141-022C0E88CB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1) Benchmark Memory Footprint of Indices and Code Shapes(+Scales for AQLM)</a:t>
            </a:r>
          </a:p>
          <a:p>
            <a:r>
              <a:rPr lang="en-US" dirty="0"/>
              <a:t>2)Benchmark Reconstruction Error </a:t>
            </a:r>
          </a:p>
          <a:p>
            <a:endParaRPr lang="en-US" dirty="0"/>
          </a:p>
          <a:p>
            <a:r>
              <a:rPr lang="en-US" dirty="0"/>
              <a:t>Benchmarked Configs:</a:t>
            </a:r>
          </a:p>
          <a:p>
            <a:pPr lvl="1"/>
            <a:r>
              <a:rPr lang="en-US" dirty="0"/>
              <a:t>AQLM: M=2,g=8,B=8(256 codebook entries)</a:t>
            </a:r>
          </a:p>
          <a:p>
            <a:pPr lvl="1"/>
            <a:r>
              <a:rPr lang="en-US" dirty="0"/>
              <a:t>VPTQ: k=4096, v=6, No Product Quantization</a:t>
            </a:r>
          </a:p>
          <a:p>
            <a:pPr lvl="1"/>
            <a:r>
              <a:rPr lang="en-US" dirty="0"/>
              <a:t>VPTQ: k=4096, v=6, Product Quantization: Split Matrix W by 8 vertically , each having their own codebook entries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EB3A0-14F3-6060-7858-6A5ADD7BA7D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70C189-72FB-135D-108E-A1A12362388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17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15F7-04DB-212B-127D-2204EE15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Memory Footprint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226757-502E-0A59-E023-B4D11EBDD60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912541" y="936625"/>
            <a:ext cx="6852442" cy="52197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CD588-1650-2A63-5439-0BBD27A1035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EE72A6-65CC-63A6-D2DE-35B2A42252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00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32BB-9FBF-694C-88F7-06A36025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Benchmark1: Reconstruction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811993-A46E-7ED9-1A18-E19A2B62892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0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1" i="0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</m:d>
                          </m:e>
                          <m:sup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811993-A46E-7ED9-1A18-E19A2B6289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6C2B9-BCA5-AEE5-4FF3-23C74370F76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A5189E-5F14-B2BC-5BE2-BAE81BB566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2C9AE-230E-766C-D2C9-479055A23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045" y="660346"/>
            <a:ext cx="6657297" cy="547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83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9BBEE-678E-310A-E73F-074943B7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4338DE-C5E6-56AD-3F76-D697EE808DB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a:fld id="{825F15A7-03F4-43D7-82C5-3E23DA2F108C}" type="mathplaceholder">
                      <a:rPr lang="en-US" i="1" smtClean="0">
                        <a:latin typeface="Cambria Math" panose="02040503050406030204" pitchFamily="18" charset="0"/>
                      </a:rPr>
                      <a:t>Type equation here.</a:t>
                    </a:fl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4338DE-C5E6-56AD-3F76-D697EE808D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F3A0B-4339-EA38-96F9-8271B21DF1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6ADB5-B5F8-767F-ED2A-50C271C6F23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98E0CC-F3BE-2E2C-6424-0436A6E41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958" y="881263"/>
            <a:ext cx="7188172" cy="542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560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66878-4002-E3EE-0C9C-BE9E206B2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918F1B-3B6B-41FD-F2E7-DB2AFE5D065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Deploy Dequantization with AQLM (M=2 codebooks,256 </a:t>
                </a:r>
                <a:r>
                  <a:rPr lang="en-US" dirty="0" err="1"/>
                  <a:t>centroids,g</a:t>
                </a:r>
                <a:r>
                  <a:rPr lang="en-US" dirty="0"/>
                  <a:t>=8 group size)</a:t>
                </a:r>
              </a:p>
              <a:p>
                <a:r>
                  <a:rPr lang="en-US" dirty="0"/>
                  <a:t>Implementing Dequantization + Inference on </a:t>
                </a:r>
                <a:r>
                  <a:rPr lang="en-US" dirty="0" err="1"/>
                  <a:t>Spatz</a:t>
                </a:r>
                <a:r>
                  <a:rPr lang="en-US" dirty="0"/>
                  <a:t> Vector Processor with existing RISC-V Vector Processor</a:t>
                </a:r>
              </a:p>
              <a:p>
                <a:r>
                  <a:rPr lang="en-US" dirty="0"/>
                  <a:t>Implement Basic GEMM Kernel in a single-cluster scenario</a:t>
                </a:r>
              </a:p>
              <a:p>
                <a:pPr lvl="1"/>
                <a:r>
                  <a:rPr lang="en-US" dirty="0"/>
                  <a:t>Fully Materialized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acc>
                  </m:oMath>
                </a14:m>
                <a:r>
                  <a:rPr lang="en-US" dirty="0"/>
                  <a:t> multiplied by a random Matrix to simulate an MLP Layer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918F1B-3B6B-41FD-F2E7-DB2AFE5D06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509" t="-728" r="-1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A6B5D-C651-A07E-F461-5C8986E45B3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Add date or a third information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B830D-92A8-D82C-37CB-6757A0867C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91219"/>
      </p:ext>
    </p:extLst>
  </p:cSld>
  <p:clrMapOvr>
    <a:masterClrMapping/>
  </p:clrMapOvr>
</p:sld>
</file>

<file path=ppt/theme/theme1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 smtClean="0">
            <a:ln>
              <a:noFill/>
            </a:ln>
            <a:solidFill>
              <a:schemeClr val="bg2"/>
            </a:solidFill>
            <a:effectLst/>
            <a:latin typeface="+mj-lt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accent1"/>
            </a:solidFill>
            <a:latin typeface="+mn-lt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B8BA4FBB-27E3-B54C-A4F6-33F92A1B8962}" vid="{F046BBE3-FD9F-414A-BCD1-2FABE79EC8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B727A0BC19BDA40A15B78EF4EA6A333" ma:contentTypeVersion="4" ma:contentTypeDescription="Ein neues Dokument erstellen." ma:contentTypeScope="" ma:versionID="740674bf627e5d9f2477de13f9ae3b0e">
  <xsd:schema xmlns:xsd="http://www.w3.org/2001/XMLSchema" xmlns:xs="http://www.w3.org/2001/XMLSchema" xmlns:p="http://schemas.microsoft.com/office/2006/metadata/properties" xmlns:ns3="c8edf7ca-e63a-4581-9fa2-287a76a8566f" targetNamespace="http://schemas.microsoft.com/office/2006/metadata/properties" ma:root="true" ma:fieldsID="0663cb524646d0633c2ceb3da247dbaa" ns3:_="">
    <xsd:import namespace="c8edf7ca-e63a-4581-9fa2-287a76a8566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edf7ca-e63a-4581-9fa2-287a76a856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C63BF1-8421-4E77-B2DC-6656849F0F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edf7ca-e63a-4581-9fa2-287a76a856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EAE6D9-6FFA-453C-A776-C791E19F14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256854-27BA-4BE7-9275-29FDD3BC72C9}">
  <ds:schemaRefs>
    <ds:schemaRef ds:uri="http://schemas.microsoft.com/office/2006/documentManagement/types"/>
    <ds:schemaRef ds:uri="http://schemas.openxmlformats.org/package/2006/metadata/core-properties"/>
    <ds:schemaRef ds:uri="c8edf7ca-e63a-4581-9fa2-287a76a8566f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PULP Triangle</Template>
  <TotalTime>1077</TotalTime>
  <Words>924</Words>
  <Application>Microsoft Macintosh PowerPoint</Application>
  <PresentationFormat>Custom</PresentationFormat>
  <Paragraphs>217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Narrow</vt:lpstr>
      <vt:lpstr>Calibri</vt:lpstr>
      <vt:lpstr>Calibri Light</vt:lpstr>
      <vt:lpstr>Cambria Math</vt:lpstr>
      <vt:lpstr>Consolas</vt:lpstr>
      <vt:lpstr>PULP Triangle</vt:lpstr>
      <vt:lpstr>SoftHier Dequantization Meeting 25.08.25</vt:lpstr>
      <vt:lpstr>SoftHier Building Block</vt:lpstr>
      <vt:lpstr>Vector Quantization</vt:lpstr>
      <vt:lpstr>Dequantization </vt:lpstr>
      <vt:lpstr>AQLM</vt:lpstr>
      <vt:lpstr>AQLM Quantization</vt:lpstr>
      <vt:lpstr>AQLM Quantization</vt:lpstr>
      <vt:lpstr>AQLM Quantization</vt:lpstr>
      <vt:lpstr>AQLM Dequantization</vt:lpstr>
      <vt:lpstr>AQLM Configs</vt:lpstr>
      <vt:lpstr>AQLM Configs</vt:lpstr>
      <vt:lpstr>VPTQ </vt:lpstr>
      <vt:lpstr>VPTQ Dequantization</vt:lpstr>
      <vt:lpstr>VPTQ Configs</vt:lpstr>
      <vt:lpstr>Matrix Multiplication</vt:lpstr>
      <vt:lpstr>Benchmark VPTQ and AQLM</vt:lpstr>
      <vt:lpstr>Benchmark Memory Footprint</vt:lpstr>
      <vt:lpstr>Benchmark1: Reconstruction Error</vt:lpstr>
      <vt:lpstr>PowerPoint Presentation</vt:lpstr>
      <vt:lpstr>Decisions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PULP Slides Template (v1.6, 03.2025)</dc:title>
  <dc:creator>Özdemir  Fatih</dc:creator>
  <cp:lastModifiedBy>Özdemir  Fatih</cp:lastModifiedBy>
  <cp:revision>24</cp:revision>
  <dcterms:created xsi:type="dcterms:W3CDTF">2025-08-17T14:39:14Z</dcterms:created>
  <dcterms:modified xsi:type="dcterms:W3CDTF">2025-08-28T23:12:56Z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0x0101003B727A0BC19BDA40A15B78EF4EA6A333</vt:lpwstr>
  </property>
</Properties>
</file>